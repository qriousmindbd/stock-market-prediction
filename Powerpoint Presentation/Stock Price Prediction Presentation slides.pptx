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Kollektif Bold" charset="1" panose="020B0604020101010102"/>
      <p:regular r:id="rId22"/>
    </p:embeddedFont>
    <p:embeddedFont>
      <p:font typeface="DM Sans" charset="1" panose="00000000000000000000"/>
      <p:regular r:id="rId23"/>
    </p:embeddedFont>
    <p:embeddedFont>
      <p:font typeface="Kollektif" charset="1" panose="020B0604020101010102"/>
      <p:regular r:id="rId24"/>
    </p:embeddedFont>
    <p:embeddedFont>
      <p:font typeface="Canva Sans" charset="1" panose="020B0503030501040103"/>
      <p:regular r:id="rId25"/>
    </p:embeddedFont>
    <p:embeddedFont>
      <p:font typeface="Canva Sans Bold" charset="1" panose="020B0803030501040103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png" Type="http://schemas.openxmlformats.org/officeDocument/2006/relationships/image"/><Relationship Id="rId11" Target="../media/image7.svg" Type="http://schemas.openxmlformats.org/officeDocument/2006/relationships/image"/><Relationship Id="rId12" Target="../media/image15.png" Type="http://schemas.openxmlformats.org/officeDocument/2006/relationships/image"/><Relationship Id="rId13" Target="../media/image16.png" Type="http://schemas.openxmlformats.org/officeDocument/2006/relationships/image"/><Relationship Id="rId14" Target="../media/image17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12" Target="../media/image20.png" Type="http://schemas.openxmlformats.org/officeDocument/2006/relationships/image"/><Relationship Id="rId13" Target="../media/image21.svg" Type="http://schemas.openxmlformats.org/officeDocument/2006/relationships/image"/><Relationship Id="rId14" Target="../media/image22.gif" Type="http://schemas.openxmlformats.org/officeDocument/2006/relationships/image"/><Relationship Id="rId15" Target="../media/image23.png" Type="http://schemas.openxmlformats.org/officeDocument/2006/relationships/image"/><Relationship Id="rId16" Target="../media/image24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svg" Type="http://schemas.openxmlformats.org/officeDocument/2006/relationships/image"/><Relationship Id="rId12" Target="../media/image29.png" Type="http://schemas.openxmlformats.org/officeDocument/2006/relationships/image"/><Relationship Id="rId13" Target="../media/image30.svg" Type="http://schemas.openxmlformats.org/officeDocument/2006/relationships/image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svg" Type="http://schemas.openxmlformats.org/officeDocument/2006/relationships/image"/><Relationship Id="rId2" Target="../media/image3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32.png" Type="http://schemas.openxmlformats.org/officeDocument/2006/relationships/image"/><Relationship Id="rId9" Target="../media/image3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32.png" Type="http://schemas.openxmlformats.org/officeDocument/2006/relationships/image"/><Relationship Id="rId9" Target="../media/image3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32.png" Type="http://schemas.openxmlformats.org/officeDocument/2006/relationships/image"/><Relationship Id="rId9" Target="../media/image3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32.png" Type="http://schemas.openxmlformats.org/officeDocument/2006/relationships/image"/><Relationship Id="rId9" Target="../media/image3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32.png" Type="http://schemas.openxmlformats.org/officeDocument/2006/relationships/image"/><Relationship Id="rId9" Target="../media/image3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32.png" Type="http://schemas.openxmlformats.org/officeDocument/2006/relationships/image"/><Relationship Id="rId9" Target="../media/image33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png" Type="http://schemas.openxmlformats.org/officeDocument/2006/relationships/image"/><Relationship Id="rId4" Target="../media/image4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31544" y="7470739"/>
            <a:ext cx="4048600" cy="2302641"/>
          </a:xfrm>
          <a:custGeom>
            <a:avLst/>
            <a:gdLst/>
            <a:ahLst/>
            <a:cxnLst/>
            <a:rect r="r" b="b" t="t" l="l"/>
            <a:pathLst>
              <a:path h="2302641" w="4048600">
                <a:moveTo>
                  <a:pt x="0" y="0"/>
                </a:moveTo>
                <a:lnTo>
                  <a:pt x="4048600" y="0"/>
                </a:lnTo>
                <a:lnTo>
                  <a:pt x="4048600" y="2302641"/>
                </a:lnTo>
                <a:lnTo>
                  <a:pt x="0" y="23026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2700000">
            <a:off x="11386843" y="7201845"/>
            <a:ext cx="7415398" cy="3565095"/>
            <a:chOff x="0" y="0"/>
            <a:chExt cx="660400" cy="317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0400" cy="317500"/>
            </a:xfrm>
            <a:custGeom>
              <a:avLst/>
              <a:gdLst/>
              <a:ahLst/>
              <a:cxnLst/>
              <a:rect r="r" b="b" t="t" l="l"/>
              <a:pathLst>
                <a:path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14131544" y="7969488"/>
            <a:ext cx="5132702" cy="5185216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4444220" y="8329798"/>
            <a:ext cx="5038853" cy="5038853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14802690" y="8681112"/>
            <a:ext cx="4867141" cy="4867141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-10800000">
            <a:off x="9525" y="6358355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83809" y="6386930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0" y="747073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800000">
            <a:off x="0" y="8554548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5400000">
            <a:off x="1083809" y="8554548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0800000">
            <a:off x="1083809" y="9623721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0800000">
            <a:off x="3321750" y="8583123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321750" y="7499314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5400000">
            <a:off x="4405559" y="8583123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237941" y="9666932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321750" y="9666932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5400000">
            <a:off x="0" y="9638357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5400000">
            <a:off x="15470622" y="0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5400000">
            <a:off x="16554431" y="0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8" y="0"/>
                </a:lnTo>
                <a:lnTo>
                  <a:pt x="1083808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true" flipV="true" rot="0">
            <a:off x="17638239" y="0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-5400000">
            <a:off x="14386813" y="10838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-5400000">
            <a:off x="15470622" y="10838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6554431" y="2167618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8" y="0"/>
                </a:lnTo>
                <a:lnTo>
                  <a:pt x="1083808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5400000">
            <a:off x="17638239" y="10838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true" flipV="true" rot="5400000">
            <a:off x="17638239" y="2167618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true" flipV="true" rot="0">
            <a:off x="15470622" y="4433486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true" flipV="true" rot="5400000">
            <a:off x="16554431" y="4433486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8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8" y="0"/>
                </a:lnTo>
                <a:lnTo>
                  <a:pt x="1083808" y="1083809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-181358" y="579714"/>
            <a:ext cx="4051940" cy="2279216"/>
          </a:xfrm>
          <a:custGeom>
            <a:avLst/>
            <a:gdLst/>
            <a:ahLst/>
            <a:cxnLst/>
            <a:rect r="r" b="b" t="t" l="l"/>
            <a:pathLst>
              <a:path h="2279216" w="4051940">
                <a:moveTo>
                  <a:pt x="0" y="0"/>
                </a:moveTo>
                <a:lnTo>
                  <a:pt x="4051941" y="0"/>
                </a:lnTo>
                <a:lnTo>
                  <a:pt x="4051941" y="2279216"/>
                </a:lnTo>
                <a:lnTo>
                  <a:pt x="0" y="227921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4777" r="0" b="-4777"/>
            </a:stretch>
          </a:blipFill>
        </p:spPr>
      </p:sp>
      <p:sp>
        <p:nvSpPr>
          <p:cNvPr name="AutoShape 32" id="32"/>
          <p:cNvSpPr/>
          <p:nvPr/>
        </p:nvSpPr>
        <p:spPr>
          <a:xfrm>
            <a:off x="-1839005" y="-2273771"/>
            <a:ext cx="5185216" cy="5132702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-2052951" y="-1961095"/>
            <a:ext cx="5038853" cy="5038853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>
            <a:off x="-2232553" y="-1602625"/>
            <a:ext cx="4867141" cy="4867141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-2359208" y="-1216357"/>
            <a:ext cx="4690515" cy="4690515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>
            <a:off x="-2503062" y="-776680"/>
            <a:ext cx="4347674" cy="4347674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>
            <a:off x="-2623881" y="-332957"/>
            <a:ext cx="3963599" cy="3985594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>
            <a:off x="-2598114" y="228677"/>
            <a:ext cx="3377485" cy="3360058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9" id="39"/>
          <p:cNvSpPr/>
          <p:nvPr/>
        </p:nvSpPr>
        <p:spPr>
          <a:xfrm>
            <a:off x="-2509797" y="905760"/>
            <a:ext cx="2628598" cy="2671969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0" id="40"/>
          <p:cNvGrpSpPr/>
          <p:nvPr/>
        </p:nvGrpSpPr>
        <p:grpSpPr>
          <a:xfrm rot="2700000">
            <a:off x="-1376391" y="-3093321"/>
            <a:ext cx="7415398" cy="3565095"/>
            <a:chOff x="0" y="0"/>
            <a:chExt cx="660400" cy="3175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60400" cy="317500"/>
            </a:xfrm>
            <a:custGeom>
              <a:avLst/>
              <a:gdLst/>
              <a:ahLst/>
              <a:cxnLst/>
              <a:rect r="r" b="b" t="t" l="l"/>
              <a:pathLst>
                <a:path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3486377" y="3940175"/>
            <a:ext cx="11315247" cy="259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b="true" sz="9999">
                <a:solidFill>
                  <a:srgbClr val="227C9D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STOCK MARKET PREDICTION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545397" y="6809551"/>
            <a:ext cx="7197206" cy="1037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0"/>
              </a:lnSpc>
            </a:pPr>
            <a:r>
              <a:rPr lang="en-US" sz="37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Predicting Stock Prices using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2700000">
            <a:off x="14032742" y="7358193"/>
            <a:ext cx="7415398" cy="3565095"/>
            <a:chOff x="0" y="0"/>
            <a:chExt cx="660400" cy="317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317500"/>
            </a:xfrm>
            <a:custGeom>
              <a:avLst/>
              <a:gdLst/>
              <a:ahLst/>
              <a:cxnLst/>
              <a:rect r="r" b="b" t="t" l="l"/>
              <a:pathLst>
                <a:path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3570128" y="8177742"/>
            <a:ext cx="5185216" cy="5132702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3356182" y="8490419"/>
            <a:ext cx="5038853" cy="5038853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3176580" y="8848889"/>
            <a:ext cx="4867141" cy="4867141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3049925" y="9235157"/>
            <a:ext cx="4690515" cy="4690515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2906071" y="9674833"/>
            <a:ext cx="4347674" cy="4347674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0" y="0"/>
            <a:ext cx="11936392" cy="10287000"/>
          </a:xfrm>
          <a:custGeom>
            <a:avLst/>
            <a:gdLst/>
            <a:ahLst/>
            <a:cxnLst/>
            <a:rect r="r" b="b" t="t" l="l"/>
            <a:pathLst>
              <a:path h="10287000" w="11936392">
                <a:moveTo>
                  <a:pt x="0" y="0"/>
                </a:moveTo>
                <a:lnTo>
                  <a:pt x="11936392" y="0"/>
                </a:lnTo>
                <a:lnTo>
                  <a:pt x="1193639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619374" y="1773413"/>
            <a:ext cx="6424347" cy="129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b="true" sz="9600">
                <a:solidFill>
                  <a:srgbClr val="FE6D73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THE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619374" y="3045953"/>
            <a:ext cx="6424347" cy="129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b="true" sz="9600">
                <a:solidFill>
                  <a:srgbClr val="227C9D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STOCK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619374" y="4318493"/>
            <a:ext cx="6424347" cy="129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b="true" sz="9600">
                <a:solidFill>
                  <a:srgbClr val="48CFAE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MARKET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9525" y="8243164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3809" y="827173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9355548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437944" y="9326973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8" y="0"/>
                </a:lnTo>
                <a:lnTo>
                  <a:pt x="1083808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204191" y="813748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04191" y="9221298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4037449" y="8679393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985219" y="7701260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400000">
            <a:off x="15443315" y="9221298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5400000">
            <a:off x="13952764" y="878506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-10800000">
            <a:off x="12770705" y="9221298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437944" y="5266115"/>
            <a:ext cx="13412113" cy="3575131"/>
          </a:xfrm>
          <a:custGeom>
            <a:avLst/>
            <a:gdLst/>
            <a:ahLst/>
            <a:cxnLst/>
            <a:rect r="r" b="b" t="t" l="l"/>
            <a:pathLst>
              <a:path h="3575131" w="13412113">
                <a:moveTo>
                  <a:pt x="0" y="0"/>
                </a:moveTo>
                <a:lnTo>
                  <a:pt x="13412112" y="0"/>
                </a:lnTo>
                <a:lnTo>
                  <a:pt x="13412112" y="3575130"/>
                </a:lnTo>
                <a:lnTo>
                  <a:pt x="0" y="357513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  <a:ln w="38100" cap="sq">
            <a:solidFill>
              <a:srgbClr val="0A699E"/>
            </a:solidFill>
            <a:prstDash val="dash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291428" y="297273"/>
            <a:ext cx="2146515" cy="2152254"/>
          </a:xfrm>
          <a:custGeom>
            <a:avLst/>
            <a:gdLst/>
            <a:ahLst/>
            <a:cxnLst/>
            <a:rect r="r" b="b" t="t" l="l"/>
            <a:pathLst>
              <a:path h="2152254" w="2146515">
                <a:moveTo>
                  <a:pt x="0" y="0"/>
                </a:moveTo>
                <a:lnTo>
                  <a:pt x="2146516" y="0"/>
                </a:lnTo>
                <a:lnTo>
                  <a:pt x="2146516" y="2152254"/>
                </a:lnTo>
                <a:lnTo>
                  <a:pt x="0" y="215225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843185" y="1171575"/>
            <a:ext cx="1060163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000"/>
              </a:lnSpc>
            </a:pPr>
            <a:r>
              <a:rPr lang="en-US" b="true" sz="8000">
                <a:solidFill>
                  <a:srgbClr val="227C9D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DATASET OVERVIEW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710979" y="2778860"/>
            <a:ext cx="12866041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US" sz="3000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We used historical stock data for NFLX, which includes the following features: 'Open,' 'High,' 'Low,' 'Close,' and 'Volume.'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710979" y="3989765"/>
            <a:ext cx="12866041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US" sz="3000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The dataset covers daily stock prices, providing a comprehensive view of the market's fluctuations over time.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9525" y="8243164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3809" y="827173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9355548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4001710" y="8569566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204191" y="813748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04191" y="9221298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307382" y="6754873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764457" y="827173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400000">
            <a:off x="14680648" y="9221298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5400000">
            <a:off x="13854514" y="8027661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-10800000">
            <a:off x="2439299" y="9203191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8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8" y="0"/>
                </a:lnTo>
                <a:lnTo>
                  <a:pt x="1083808" y="108380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077731" y="0"/>
            <a:ext cx="3336729" cy="4114800"/>
          </a:xfrm>
          <a:custGeom>
            <a:avLst/>
            <a:gdLst/>
            <a:ahLst/>
            <a:cxnLst/>
            <a:rect r="r" b="b" t="t" l="l"/>
            <a:pathLst>
              <a:path h="4114800" w="3336729">
                <a:moveTo>
                  <a:pt x="0" y="0"/>
                </a:moveTo>
                <a:lnTo>
                  <a:pt x="3336729" y="0"/>
                </a:lnTo>
                <a:lnTo>
                  <a:pt x="33367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25713" y="3440056"/>
            <a:ext cx="810183" cy="837595"/>
          </a:xfrm>
          <a:custGeom>
            <a:avLst/>
            <a:gdLst/>
            <a:ahLst/>
            <a:cxnLst/>
            <a:rect r="r" b="b" t="t" l="l"/>
            <a:pathLst>
              <a:path h="837595" w="810183">
                <a:moveTo>
                  <a:pt x="0" y="0"/>
                </a:moveTo>
                <a:lnTo>
                  <a:pt x="810183" y="0"/>
                </a:lnTo>
                <a:lnTo>
                  <a:pt x="810183" y="837596"/>
                </a:lnTo>
                <a:lnTo>
                  <a:pt x="0" y="83759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25713" y="4894131"/>
            <a:ext cx="810183" cy="837595"/>
          </a:xfrm>
          <a:custGeom>
            <a:avLst/>
            <a:gdLst/>
            <a:ahLst/>
            <a:cxnLst/>
            <a:rect r="r" b="b" t="t" l="l"/>
            <a:pathLst>
              <a:path h="837595" w="810183">
                <a:moveTo>
                  <a:pt x="0" y="0"/>
                </a:moveTo>
                <a:lnTo>
                  <a:pt x="810183" y="0"/>
                </a:lnTo>
                <a:lnTo>
                  <a:pt x="810183" y="837595"/>
                </a:lnTo>
                <a:lnTo>
                  <a:pt x="0" y="83759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25713" y="6634882"/>
            <a:ext cx="810183" cy="837595"/>
          </a:xfrm>
          <a:custGeom>
            <a:avLst/>
            <a:gdLst/>
            <a:ahLst/>
            <a:cxnLst/>
            <a:rect r="r" b="b" t="t" l="l"/>
            <a:pathLst>
              <a:path h="837595" w="810183">
                <a:moveTo>
                  <a:pt x="0" y="0"/>
                </a:moveTo>
                <a:lnTo>
                  <a:pt x="810183" y="0"/>
                </a:lnTo>
                <a:lnTo>
                  <a:pt x="810183" y="837595"/>
                </a:lnTo>
                <a:lnTo>
                  <a:pt x="0" y="83759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4"/>
          <a:srcRect l="0" t="0" r="0" b="0"/>
          <a:stretch>
            <a:fillRect/>
          </a:stretch>
        </p:blipFill>
        <p:spPr>
          <a:xfrm flipH="false" flipV="false" rot="0">
            <a:off x="1861935" y="3349459"/>
            <a:ext cx="804943" cy="744572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4"/>
          <a:srcRect l="0" t="0" r="0" b="0"/>
          <a:stretch>
            <a:fillRect/>
          </a:stretch>
        </p:blipFill>
        <p:spPr>
          <a:xfrm flipH="false" flipV="false" rot="0">
            <a:off x="1861935" y="4815123"/>
            <a:ext cx="804943" cy="744572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4"/>
          <a:srcRect l="0" t="0" r="0" b="0"/>
          <a:stretch>
            <a:fillRect/>
          </a:stretch>
        </p:blipFill>
        <p:spPr>
          <a:xfrm flipH="false" flipV="false" rot="0">
            <a:off x="1861935" y="6552205"/>
            <a:ext cx="804943" cy="744572"/>
          </a:xfrm>
          <a:prstGeom prst="rect">
            <a:avLst/>
          </a:prstGeom>
        </p:spPr>
      </p:pic>
      <p:sp>
        <p:nvSpPr>
          <p:cNvPr name="Freeform 20" id="20"/>
          <p:cNvSpPr/>
          <p:nvPr/>
        </p:nvSpPr>
        <p:spPr>
          <a:xfrm flipH="false" flipV="false" rot="0">
            <a:off x="239377" y="237224"/>
            <a:ext cx="1970301" cy="1970301"/>
          </a:xfrm>
          <a:custGeom>
            <a:avLst/>
            <a:gdLst/>
            <a:ahLst/>
            <a:cxnLst/>
            <a:rect r="r" b="b" t="t" l="l"/>
            <a:pathLst>
              <a:path h="1970301" w="1970301">
                <a:moveTo>
                  <a:pt x="0" y="0"/>
                </a:moveTo>
                <a:lnTo>
                  <a:pt x="1970301" y="0"/>
                </a:lnTo>
                <a:lnTo>
                  <a:pt x="1970301" y="1970302"/>
                </a:lnTo>
                <a:lnTo>
                  <a:pt x="0" y="197030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981203" y="1327150"/>
            <a:ext cx="12325594" cy="73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99"/>
              </a:lnSpc>
            </a:pPr>
            <a:r>
              <a:rPr lang="en-US" b="true" sz="5499">
                <a:solidFill>
                  <a:srgbClr val="227C9D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PROBLEM STATEMENT &amp; APPROACH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981203" y="3349009"/>
            <a:ext cx="12783254" cy="456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3999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The goal of our project is to accurately predict the 'Open' price of NFLX (Netflix) stock using historical stock data. </a:t>
            </a:r>
          </a:p>
          <a:p>
            <a:pPr algn="just">
              <a:lnSpc>
                <a:spcPts val="3999"/>
              </a:lnSpc>
            </a:pPr>
          </a:p>
          <a:p>
            <a:pPr algn="just">
              <a:lnSpc>
                <a:spcPts val="3999"/>
              </a:lnSpc>
            </a:pPr>
            <a:r>
              <a:rPr lang="en-US" sz="3999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The 'Open' price is the price at which a stock first trades upon the opening of the stock market on a given day. </a:t>
            </a:r>
          </a:p>
          <a:p>
            <a:pPr algn="just">
              <a:lnSpc>
                <a:spcPts val="3999"/>
              </a:lnSpc>
            </a:pPr>
          </a:p>
          <a:p>
            <a:pPr algn="just">
              <a:lnSpc>
                <a:spcPts val="3999"/>
              </a:lnSpc>
            </a:pPr>
            <a:r>
              <a:rPr lang="en-US" sz="3999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Accurate prediction of this value is crucial for traders and investors, as it can influence trading strategies and investment decisions.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9525" y="8243164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42666" y="8468672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9355548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321750" y="9384123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204191" y="813748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04191" y="9221298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825557" y="832985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14741748" y="9384123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5400000">
            <a:off x="11305041" y="8716396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9" y="1083808"/>
                </a:moveTo>
                <a:lnTo>
                  <a:pt x="0" y="1083808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8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-10800000">
            <a:off x="13362664" y="8813644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5981119" y="4538323"/>
            <a:ext cx="11411262" cy="1038433"/>
            <a:chOff x="0" y="0"/>
            <a:chExt cx="3005435" cy="2734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005435" cy="273497"/>
            </a:xfrm>
            <a:custGeom>
              <a:avLst/>
              <a:gdLst/>
              <a:ahLst/>
              <a:cxnLst/>
              <a:rect r="r" b="b" t="t" l="l"/>
              <a:pathLst>
                <a:path h="273497" w="3005435">
                  <a:moveTo>
                    <a:pt x="34601" y="0"/>
                  </a:moveTo>
                  <a:lnTo>
                    <a:pt x="2970834" y="0"/>
                  </a:lnTo>
                  <a:cubicBezTo>
                    <a:pt x="2980011" y="0"/>
                    <a:pt x="2988812" y="3645"/>
                    <a:pt x="2995301" y="10134"/>
                  </a:cubicBezTo>
                  <a:cubicBezTo>
                    <a:pt x="3001790" y="16623"/>
                    <a:pt x="3005435" y="25424"/>
                    <a:pt x="3005435" y="34601"/>
                  </a:cubicBezTo>
                  <a:lnTo>
                    <a:pt x="3005435" y="238896"/>
                  </a:lnTo>
                  <a:cubicBezTo>
                    <a:pt x="3005435" y="248073"/>
                    <a:pt x="3001790" y="256873"/>
                    <a:pt x="2995301" y="263362"/>
                  </a:cubicBezTo>
                  <a:cubicBezTo>
                    <a:pt x="2988812" y="269851"/>
                    <a:pt x="2980011" y="273497"/>
                    <a:pt x="2970834" y="273497"/>
                  </a:cubicBezTo>
                  <a:lnTo>
                    <a:pt x="34601" y="273497"/>
                  </a:lnTo>
                  <a:cubicBezTo>
                    <a:pt x="25424" y="273497"/>
                    <a:pt x="16623" y="269851"/>
                    <a:pt x="10134" y="263362"/>
                  </a:cubicBezTo>
                  <a:cubicBezTo>
                    <a:pt x="3645" y="256873"/>
                    <a:pt x="0" y="248073"/>
                    <a:pt x="0" y="238896"/>
                  </a:cubicBezTo>
                  <a:lnTo>
                    <a:pt x="0" y="34601"/>
                  </a:lnTo>
                  <a:cubicBezTo>
                    <a:pt x="0" y="25424"/>
                    <a:pt x="3645" y="16623"/>
                    <a:pt x="10134" y="10134"/>
                  </a:cubicBezTo>
                  <a:cubicBezTo>
                    <a:pt x="16623" y="3645"/>
                    <a:pt x="25424" y="0"/>
                    <a:pt x="34601" y="0"/>
                  </a:cubicBez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3005435" cy="2544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  <a:r>
                <a:rPr lang="en-US" sz="23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An ensemble of decision trees that improves accuracy.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981119" y="5727078"/>
            <a:ext cx="11411262" cy="1038433"/>
            <a:chOff x="0" y="0"/>
            <a:chExt cx="3005435" cy="27349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005435" cy="273497"/>
            </a:xfrm>
            <a:custGeom>
              <a:avLst/>
              <a:gdLst/>
              <a:ahLst/>
              <a:cxnLst/>
              <a:rect r="r" b="b" t="t" l="l"/>
              <a:pathLst>
                <a:path h="273497" w="3005435">
                  <a:moveTo>
                    <a:pt x="34601" y="0"/>
                  </a:moveTo>
                  <a:lnTo>
                    <a:pt x="2970834" y="0"/>
                  </a:lnTo>
                  <a:cubicBezTo>
                    <a:pt x="2980011" y="0"/>
                    <a:pt x="2988812" y="3645"/>
                    <a:pt x="2995301" y="10134"/>
                  </a:cubicBezTo>
                  <a:cubicBezTo>
                    <a:pt x="3001790" y="16623"/>
                    <a:pt x="3005435" y="25424"/>
                    <a:pt x="3005435" y="34601"/>
                  </a:cubicBezTo>
                  <a:lnTo>
                    <a:pt x="3005435" y="238896"/>
                  </a:lnTo>
                  <a:cubicBezTo>
                    <a:pt x="3005435" y="248073"/>
                    <a:pt x="3001790" y="256873"/>
                    <a:pt x="2995301" y="263362"/>
                  </a:cubicBezTo>
                  <a:cubicBezTo>
                    <a:pt x="2988812" y="269851"/>
                    <a:pt x="2980011" y="273497"/>
                    <a:pt x="2970834" y="273497"/>
                  </a:cubicBezTo>
                  <a:lnTo>
                    <a:pt x="34601" y="273497"/>
                  </a:lnTo>
                  <a:cubicBezTo>
                    <a:pt x="25424" y="273497"/>
                    <a:pt x="16623" y="269851"/>
                    <a:pt x="10134" y="263362"/>
                  </a:cubicBezTo>
                  <a:cubicBezTo>
                    <a:pt x="3645" y="256873"/>
                    <a:pt x="0" y="248073"/>
                    <a:pt x="0" y="238896"/>
                  </a:cubicBezTo>
                  <a:lnTo>
                    <a:pt x="0" y="34601"/>
                  </a:lnTo>
                  <a:cubicBezTo>
                    <a:pt x="0" y="25424"/>
                    <a:pt x="3645" y="16623"/>
                    <a:pt x="10134" y="10134"/>
                  </a:cubicBezTo>
                  <a:cubicBezTo>
                    <a:pt x="16623" y="3645"/>
                    <a:pt x="25424" y="0"/>
                    <a:pt x="34601" y="0"/>
                  </a:cubicBez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19050"/>
              <a:ext cx="3005435" cy="2544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  <a:r>
                <a:rPr lang="en-US" sz="23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 model that splits data into branches for prediction.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981119" y="6975060"/>
            <a:ext cx="11411262" cy="1038433"/>
            <a:chOff x="0" y="0"/>
            <a:chExt cx="3005435" cy="27349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005435" cy="273497"/>
            </a:xfrm>
            <a:custGeom>
              <a:avLst/>
              <a:gdLst/>
              <a:ahLst/>
              <a:cxnLst/>
              <a:rect r="r" b="b" t="t" l="l"/>
              <a:pathLst>
                <a:path h="273497" w="3005435">
                  <a:moveTo>
                    <a:pt x="34601" y="0"/>
                  </a:moveTo>
                  <a:lnTo>
                    <a:pt x="2970834" y="0"/>
                  </a:lnTo>
                  <a:cubicBezTo>
                    <a:pt x="2980011" y="0"/>
                    <a:pt x="2988812" y="3645"/>
                    <a:pt x="2995301" y="10134"/>
                  </a:cubicBezTo>
                  <a:cubicBezTo>
                    <a:pt x="3001790" y="16623"/>
                    <a:pt x="3005435" y="25424"/>
                    <a:pt x="3005435" y="34601"/>
                  </a:cubicBezTo>
                  <a:lnTo>
                    <a:pt x="3005435" y="238896"/>
                  </a:lnTo>
                  <a:cubicBezTo>
                    <a:pt x="3005435" y="248073"/>
                    <a:pt x="3001790" y="256873"/>
                    <a:pt x="2995301" y="263362"/>
                  </a:cubicBezTo>
                  <a:cubicBezTo>
                    <a:pt x="2988812" y="269851"/>
                    <a:pt x="2980011" y="273497"/>
                    <a:pt x="2970834" y="273497"/>
                  </a:cubicBezTo>
                  <a:lnTo>
                    <a:pt x="34601" y="273497"/>
                  </a:lnTo>
                  <a:cubicBezTo>
                    <a:pt x="25424" y="273497"/>
                    <a:pt x="16623" y="269851"/>
                    <a:pt x="10134" y="263362"/>
                  </a:cubicBezTo>
                  <a:cubicBezTo>
                    <a:pt x="3645" y="256873"/>
                    <a:pt x="0" y="248073"/>
                    <a:pt x="0" y="238896"/>
                  </a:cubicBezTo>
                  <a:lnTo>
                    <a:pt x="0" y="34601"/>
                  </a:lnTo>
                  <a:cubicBezTo>
                    <a:pt x="0" y="25424"/>
                    <a:pt x="3645" y="16623"/>
                    <a:pt x="10134" y="10134"/>
                  </a:cubicBezTo>
                  <a:cubicBezTo>
                    <a:pt x="16623" y="3645"/>
                    <a:pt x="25424" y="0"/>
                    <a:pt x="34601" y="0"/>
                  </a:cubicBez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19050"/>
              <a:ext cx="3005435" cy="2544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  <a:r>
                <a:rPr lang="en-US" sz="23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 model that builds trees sequentially to minimize errors.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981119" y="8165893"/>
            <a:ext cx="11411262" cy="1386587"/>
            <a:chOff x="0" y="0"/>
            <a:chExt cx="3005435" cy="36519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005435" cy="365192"/>
            </a:xfrm>
            <a:custGeom>
              <a:avLst/>
              <a:gdLst/>
              <a:ahLst/>
              <a:cxnLst/>
              <a:rect r="r" b="b" t="t" l="l"/>
              <a:pathLst>
                <a:path h="365192" w="3005435">
                  <a:moveTo>
                    <a:pt x="34601" y="0"/>
                  </a:moveTo>
                  <a:lnTo>
                    <a:pt x="2970834" y="0"/>
                  </a:lnTo>
                  <a:cubicBezTo>
                    <a:pt x="2980011" y="0"/>
                    <a:pt x="2988812" y="3645"/>
                    <a:pt x="2995301" y="10134"/>
                  </a:cubicBezTo>
                  <a:cubicBezTo>
                    <a:pt x="3001790" y="16623"/>
                    <a:pt x="3005435" y="25424"/>
                    <a:pt x="3005435" y="34601"/>
                  </a:cubicBezTo>
                  <a:lnTo>
                    <a:pt x="3005435" y="330591"/>
                  </a:lnTo>
                  <a:cubicBezTo>
                    <a:pt x="3005435" y="339768"/>
                    <a:pt x="3001790" y="348569"/>
                    <a:pt x="2995301" y="355057"/>
                  </a:cubicBezTo>
                  <a:cubicBezTo>
                    <a:pt x="2988812" y="361546"/>
                    <a:pt x="2980011" y="365192"/>
                    <a:pt x="2970834" y="365192"/>
                  </a:cubicBezTo>
                  <a:lnTo>
                    <a:pt x="34601" y="365192"/>
                  </a:lnTo>
                  <a:cubicBezTo>
                    <a:pt x="25424" y="365192"/>
                    <a:pt x="16623" y="361546"/>
                    <a:pt x="10134" y="355057"/>
                  </a:cubicBezTo>
                  <a:cubicBezTo>
                    <a:pt x="3645" y="348569"/>
                    <a:pt x="0" y="339768"/>
                    <a:pt x="0" y="330591"/>
                  </a:cubicBezTo>
                  <a:lnTo>
                    <a:pt x="0" y="34601"/>
                  </a:lnTo>
                  <a:cubicBezTo>
                    <a:pt x="0" y="25424"/>
                    <a:pt x="3645" y="16623"/>
                    <a:pt x="10134" y="10134"/>
                  </a:cubicBezTo>
                  <a:cubicBezTo>
                    <a:pt x="16623" y="3645"/>
                    <a:pt x="25424" y="0"/>
                    <a:pt x="34601" y="0"/>
                  </a:cubicBez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19050"/>
              <a:ext cx="3005435" cy="346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  <a:r>
                <a:rPr lang="en-US" sz="23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 model that tries to fit the best line within a threshold.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8700" y="4538323"/>
            <a:ext cx="6046286" cy="1027869"/>
            <a:chOff x="0" y="0"/>
            <a:chExt cx="1592438" cy="27071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92438" cy="270714"/>
            </a:xfrm>
            <a:custGeom>
              <a:avLst/>
              <a:gdLst/>
              <a:ahLst/>
              <a:cxnLst/>
              <a:rect r="r" b="b" t="t" l="l"/>
              <a:pathLst>
                <a:path h="270714" w="1592438">
                  <a:moveTo>
                    <a:pt x="65303" y="0"/>
                  </a:moveTo>
                  <a:lnTo>
                    <a:pt x="1527135" y="0"/>
                  </a:lnTo>
                  <a:cubicBezTo>
                    <a:pt x="1544454" y="0"/>
                    <a:pt x="1561064" y="6880"/>
                    <a:pt x="1573311" y="19127"/>
                  </a:cubicBezTo>
                  <a:cubicBezTo>
                    <a:pt x="1585557" y="31373"/>
                    <a:pt x="1592438" y="47983"/>
                    <a:pt x="1592438" y="65303"/>
                  </a:cubicBezTo>
                  <a:lnTo>
                    <a:pt x="1592438" y="205412"/>
                  </a:lnTo>
                  <a:cubicBezTo>
                    <a:pt x="1592438" y="241477"/>
                    <a:pt x="1563201" y="270714"/>
                    <a:pt x="1527135" y="270714"/>
                  </a:cubicBezTo>
                  <a:lnTo>
                    <a:pt x="65303" y="270714"/>
                  </a:lnTo>
                  <a:cubicBezTo>
                    <a:pt x="47983" y="270714"/>
                    <a:pt x="31373" y="263834"/>
                    <a:pt x="19127" y="251588"/>
                  </a:cubicBezTo>
                  <a:cubicBezTo>
                    <a:pt x="6880" y="239341"/>
                    <a:pt x="0" y="222731"/>
                    <a:pt x="0" y="205412"/>
                  </a:cubicBezTo>
                  <a:lnTo>
                    <a:pt x="0" y="65303"/>
                  </a:lnTo>
                  <a:cubicBezTo>
                    <a:pt x="0" y="47983"/>
                    <a:pt x="6880" y="31373"/>
                    <a:pt x="19127" y="19127"/>
                  </a:cubicBezTo>
                  <a:cubicBezTo>
                    <a:pt x="31373" y="6880"/>
                    <a:pt x="47983" y="0"/>
                    <a:pt x="65303" y="0"/>
                  </a:cubicBezTo>
                  <a:close/>
                </a:path>
              </a:pathLst>
            </a:custGeom>
            <a:solidFill>
              <a:srgbClr val="A4B9FB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19050"/>
              <a:ext cx="1592438" cy="2516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28700" y="5756692"/>
            <a:ext cx="6046286" cy="1027869"/>
            <a:chOff x="0" y="0"/>
            <a:chExt cx="1592438" cy="27071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592438" cy="270714"/>
            </a:xfrm>
            <a:custGeom>
              <a:avLst/>
              <a:gdLst/>
              <a:ahLst/>
              <a:cxnLst/>
              <a:rect r="r" b="b" t="t" l="l"/>
              <a:pathLst>
                <a:path h="270714" w="1592438">
                  <a:moveTo>
                    <a:pt x="65303" y="0"/>
                  </a:moveTo>
                  <a:lnTo>
                    <a:pt x="1527135" y="0"/>
                  </a:lnTo>
                  <a:cubicBezTo>
                    <a:pt x="1544454" y="0"/>
                    <a:pt x="1561064" y="6880"/>
                    <a:pt x="1573311" y="19127"/>
                  </a:cubicBezTo>
                  <a:cubicBezTo>
                    <a:pt x="1585557" y="31373"/>
                    <a:pt x="1592438" y="47983"/>
                    <a:pt x="1592438" y="65303"/>
                  </a:cubicBezTo>
                  <a:lnTo>
                    <a:pt x="1592438" y="205412"/>
                  </a:lnTo>
                  <a:cubicBezTo>
                    <a:pt x="1592438" y="241477"/>
                    <a:pt x="1563201" y="270714"/>
                    <a:pt x="1527135" y="270714"/>
                  </a:cubicBezTo>
                  <a:lnTo>
                    <a:pt x="65303" y="270714"/>
                  </a:lnTo>
                  <a:cubicBezTo>
                    <a:pt x="47983" y="270714"/>
                    <a:pt x="31373" y="263834"/>
                    <a:pt x="19127" y="251588"/>
                  </a:cubicBezTo>
                  <a:cubicBezTo>
                    <a:pt x="6880" y="239341"/>
                    <a:pt x="0" y="222731"/>
                    <a:pt x="0" y="205412"/>
                  </a:cubicBezTo>
                  <a:lnTo>
                    <a:pt x="0" y="65303"/>
                  </a:lnTo>
                  <a:cubicBezTo>
                    <a:pt x="0" y="47983"/>
                    <a:pt x="6880" y="31373"/>
                    <a:pt x="19127" y="19127"/>
                  </a:cubicBezTo>
                  <a:cubicBezTo>
                    <a:pt x="31373" y="6880"/>
                    <a:pt x="47983" y="0"/>
                    <a:pt x="65303" y="0"/>
                  </a:cubicBezTo>
                  <a:close/>
                </a:path>
              </a:pathLst>
            </a:custGeom>
            <a:solidFill>
              <a:srgbClr val="48CFAE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19050"/>
              <a:ext cx="1592438" cy="2516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981119" y="3318915"/>
            <a:ext cx="11411262" cy="1038433"/>
            <a:chOff x="0" y="0"/>
            <a:chExt cx="3005435" cy="27349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005435" cy="273497"/>
            </a:xfrm>
            <a:custGeom>
              <a:avLst/>
              <a:gdLst/>
              <a:ahLst/>
              <a:cxnLst/>
              <a:rect r="r" b="b" t="t" l="l"/>
              <a:pathLst>
                <a:path h="273497" w="3005435">
                  <a:moveTo>
                    <a:pt x="34601" y="0"/>
                  </a:moveTo>
                  <a:lnTo>
                    <a:pt x="2970834" y="0"/>
                  </a:lnTo>
                  <a:cubicBezTo>
                    <a:pt x="2980011" y="0"/>
                    <a:pt x="2988812" y="3645"/>
                    <a:pt x="2995301" y="10134"/>
                  </a:cubicBezTo>
                  <a:cubicBezTo>
                    <a:pt x="3001790" y="16623"/>
                    <a:pt x="3005435" y="25424"/>
                    <a:pt x="3005435" y="34601"/>
                  </a:cubicBezTo>
                  <a:lnTo>
                    <a:pt x="3005435" y="238896"/>
                  </a:lnTo>
                  <a:cubicBezTo>
                    <a:pt x="3005435" y="248073"/>
                    <a:pt x="3001790" y="256873"/>
                    <a:pt x="2995301" y="263362"/>
                  </a:cubicBezTo>
                  <a:cubicBezTo>
                    <a:pt x="2988812" y="269851"/>
                    <a:pt x="2980011" y="273497"/>
                    <a:pt x="2970834" y="273497"/>
                  </a:cubicBezTo>
                  <a:lnTo>
                    <a:pt x="34601" y="273497"/>
                  </a:lnTo>
                  <a:cubicBezTo>
                    <a:pt x="25424" y="273497"/>
                    <a:pt x="16623" y="269851"/>
                    <a:pt x="10134" y="263362"/>
                  </a:cubicBezTo>
                  <a:cubicBezTo>
                    <a:pt x="3645" y="256873"/>
                    <a:pt x="0" y="248073"/>
                    <a:pt x="0" y="238896"/>
                  </a:cubicBezTo>
                  <a:lnTo>
                    <a:pt x="0" y="34601"/>
                  </a:lnTo>
                  <a:cubicBezTo>
                    <a:pt x="0" y="25424"/>
                    <a:pt x="3645" y="16623"/>
                    <a:pt x="10134" y="10134"/>
                  </a:cubicBezTo>
                  <a:cubicBezTo>
                    <a:pt x="16623" y="3645"/>
                    <a:pt x="25424" y="0"/>
                    <a:pt x="34601" y="0"/>
                  </a:cubicBez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19050"/>
              <a:ext cx="3005435" cy="2544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  <a:r>
                <a:rPr lang="en-US" sz="23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 simple yet powerful model for continuous prediction.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28700" y="3318915"/>
            <a:ext cx="6046286" cy="1027869"/>
            <a:chOff x="0" y="0"/>
            <a:chExt cx="1592438" cy="27071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592438" cy="270714"/>
            </a:xfrm>
            <a:custGeom>
              <a:avLst/>
              <a:gdLst/>
              <a:ahLst/>
              <a:cxnLst/>
              <a:rect r="r" b="b" t="t" l="l"/>
              <a:pathLst>
                <a:path h="270714" w="1592438">
                  <a:moveTo>
                    <a:pt x="65303" y="0"/>
                  </a:moveTo>
                  <a:lnTo>
                    <a:pt x="1527135" y="0"/>
                  </a:lnTo>
                  <a:cubicBezTo>
                    <a:pt x="1544454" y="0"/>
                    <a:pt x="1561064" y="6880"/>
                    <a:pt x="1573311" y="19127"/>
                  </a:cubicBezTo>
                  <a:cubicBezTo>
                    <a:pt x="1585557" y="31373"/>
                    <a:pt x="1592438" y="47983"/>
                    <a:pt x="1592438" y="65303"/>
                  </a:cubicBezTo>
                  <a:lnTo>
                    <a:pt x="1592438" y="205412"/>
                  </a:lnTo>
                  <a:cubicBezTo>
                    <a:pt x="1592438" y="241477"/>
                    <a:pt x="1563201" y="270714"/>
                    <a:pt x="1527135" y="270714"/>
                  </a:cubicBezTo>
                  <a:lnTo>
                    <a:pt x="65303" y="270714"/>
                  </a:lnTo>
                  <a:cubicBezTo>
                    <a:pt x="47983" y="270714"/>
                    <a:pt x="31373" y="263834"/>
                    <a:pt x="19127" y="251588"/>
                  </a:cubicBezTo>
                  <a:cubicBezTo>
                    <a:pt x="6880" y="239341"/>
                    <a:pt x="0" y="222731"/>
                    <a:pt x="0" y="205412"/>
                  </a:cubicBezTo>
                  <a:lnTo>
                    <a:pt x="0" y="65303"/>
                  </a:lnTo>
                  <a:cubicBezTo>
                    <a:pt x="0" y="47983"/>
                    <a:pt x="6880" y="31373"/>
                    <a:pt x="19127" y="19127"/>
                  </a:cubicBezTo>
                  <a:cubicBezTo>
                    <a:pt x="31373" y="6880"/>
                    <a:pt x="47983" y="0"/>
                    <a:pt x="65303" y="0"/>
                  </a:cubicBezTo>
                  <a:close/>
                </a:path>
              </a:pathLst>
            </a:custGeom>
            <a:solidFill>
              <a:srgbClr val="FF967A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19050"/>
              <a:ext cx="1592438" cy="2516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372270" y="3657157"/>
            <a:ext cx="5702716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b="true" sz="3000">
                <a:solidFill>
                  <a:srgbClr val="FFFFFF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01 - LINEAR REGRESSION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028700" y="6975060"/>
            <a:ext cx="6046286" cy="1027869"/>
            <a:chOff x="0" y="0"/>
            <a:chExt cx="1592438" cy="27071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592438" cy="270714"/>
            </a:xfrm>
            <a:custGeom>
              <a:avLst/>
              <a:gdLst/>
              <a:ahLst/>
              <a:cxnLst/>
              <a:rect r="r" b="b" t="t" l="l"/>
              <a:pathLst>
                <a:path h="270714" w="1592438">
                  <a:moveTo>
                    <a:pt x="65303" y="0"/>
                  </a:moveTo>
                  <a:lnTo>
                    <a:pt x="1527135" y="0"/>
                  </a:lnTo>
                  <a:cubicBezTo>
                    <a:pt x="1544454" y="0"/>
                    <a:pt x="1561064" y="6880"/>
                    <a:pt x="1573311" y="19127"/>
                  </a:cubicBezTo>
                  <a:cubicBezTo>
                    <a:pt x="1585557" y="31373"/>
                    <a:pt x="1592438" y="47983"/>
                    <a:pt x="1592438" y="65303"/>
                  </a:cubicBezTo>
                  <a:lnTo>
                    <a:pt x="1592438" y="205412"/>
                  </a:lnTo>
                  <a:cubicBezTo>
                    <a:pt x="1592438" y="241477"/>
                    <a:pt x="1563201" y="270714"/>
                    <a:pt x="1527135" y="270714"/>
                  </a:cubicBezTo>
                  <a:lnTo>
                    <a:pt x="65303" y="270714"/>
                  </a:lnTo>
                  <a:cubicBezTo>
                    <a:pt x="47983" y="270714"/>
                    <a:pt x="31373" y="263834"/>
                    <a:pt x="19127" y="251588"/>
                  </a:cubicBezTo>
                  <a:cubicBezTo>
                    <a:pt x="6880" y="239341"/>
                    <a:pt x="0" y="222731"/>
                    <a:pt x="0" y="205412"/>
                  </a:cubicBezTo>
                  <a:lnTo>
                    <a:pt x="0" y="65303"/>
                  </a:lnTo>
                  <a:cubicBezTo>
                    <a:pt x="0" y="47983"/>
                    <a:pt x="6880" y="31373"/>
                    <a:pt x="19127" y="19127"/>
                  </a:cubicBezTo>
                  <a:cubicBezTo>
                    <a:pt x="31373" y="6880"/>
                    <a:pt x="47983" y="0"/>
                    <a:pt x="65303" y="0"/>
                  </a:cubicBezTo>
                  <a:close/>
                </a:path>
              </a:pathLst>
            </a:custGeom>
            <a:solidFill>
              <a:srgbClr val="1986CF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19050"/>
              <a:ext cx="1592438" cy="2516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28700" y="8193429"/>
            <a:ext cx="6046286" cy="1359051"/>
            <a:chOff x="0" y="0"/>
            <a:chExt cx="1592438" cy="35793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592438" cy="357939"/>
            </a:xfrm>
            <a:custGeom>
              <a:avLst/>
              <a:gdLst/>
              <a:ahLst/>
              <a:cxnLst/>
              <a:rect r="r" b="b" t="t" l="l"/>
              <a:pathLst>
                <a:path h="357939" w="1592438">
                  <a:moveTo>
                    <a:pt x="65303" y="0"/>
                  </a:moveTo>
                  <a:lnTo>
                    <a:pt x="1527135" y="0"/>
                  </a:lnTo>
                  <a:cubicBezTo>
                    <a:pt x="1544454" y="0"/>
                    <a:pt x="1561064" y="6880"/>
                    <a:pt x="1573311" y="19127"/>
                  </a:cubicBezTo>
                  <a:cubicBezTo>
                    <a:pt x="1585557" y="31373"/>
                    <a:pt x="1592438" y="47983"/>
                    <a:pt x="1592438" y="65303"/>
                  </a:cubicBezTo>
                  <a:lnTo>
                    <a:pt x="1592438" y="292637"/>
                  </a:lnTo>
                  <a:cubicBezTo>
                    <a:pt x="1592438" y="328703"/>
                    <a:pt x="1563201" y="357939"/>
                    <a:pt x="1527135" y="357939"/>
                  </a:cubicBezTo>
                  <a:lnTo>
                    <a:pt x="65303" y="357939"/>
                  </a:lnTo>
                  <a:cubicBezTo>
                    <a:pt x="47983" y="357939"/>
                    <a:pt x="31373" y="351059"/>
                    <a:pt x="19127" y="338813"/>
                  </a:cubicBezTo>
                  <a:cubicBezTo>
                    <a:pt x="6880" y="326566"/>
                    <a:pt x="0" y="309956"/>
                    <a:pt x="0" y="292637"/>
                  </a:cubicBezTo>
                  <a:lnTo>
                    <a:pt x="0" y="65303"/>
                  </a:lnTo>
                  <a:cubicBezTo>
                    <a:pt x="0" y="47983"/>
                    <a:pt x="6880" y="31373"/>
                    <a:pt x="19127" y="19127"/>
                  </a:cubicBezTo>
                  <a:cubicBezTo>
                    <a:pt x="31373" y="6880"/>
                    <a:pt x="47983" y="0"/>
                    <a:pt x="65303" y="0"/>
                  </a:cubicBezTo>
                  <a:close/>
                </a:path>
              </a:pathLst>
            </a:custGeom>
            <a:solidFill>
              <a:srgbClr val="FFB846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19050"/>
              <a:ext cx="1592438" cy="3388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4548875" y="658265"/>
            <a:ext cx="919025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000"/>
              </a:lnSpc>
            </a:pPr>
            <a:r>
              <a:rPr lang="en-US" b="true" sz="8000">
                <a:solidFill>
                  <a:srgbClr val="227C9D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MODEL SELECTION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967339" y="1747925"/>
            <a:ext cx="12353321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We experimented with various machine learning models to predict the stock prices, including: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72270" y="4876564"/>
            <a:ext cx="5702716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b="true" sz="3000">
                <a:solidFill>
                  <a:srgbClr val="FFFFFF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02 - RANDOM FOREST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72270" y="6065319"/>
            <a:ext cx="5702716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b="true" sz="3000">
                <a:solidFill>
                  <a:srgbClr val="FFFFFF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03 - DECISION TREE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372270" y="7313302"/>
            <a:ext cx="5702716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b="true" sz="3000">
                <a:solidFill>
                  <a:srgbClr val="FFFFFF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04 - GRADIENT BOOSTING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72270" y="8498418"/>
            <a:ext cx="5702716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b="true" sz="3000">
                <a:solidFill>
                  <a:srgbClr val="FFFFFF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05 - SUPPORT VECTOR REGRESSION (SVR)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87092" y="8095379"/>
            <a:ext cx="3891973" cy="647225"/>
            <a:chOff x="0" y="0"/>
            <a:chExt cx="1232735" cy="205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2735" cy="205000"/>
            </a:xfrm>
            <a:custGeom>
              <a:avLst/>
              <a:gdLst/>
              <a:ahLst/>
              <a:cxnLst/>
              <a:rect r="r" b="b" t="t" l="l"/>
              <a:pathLst>
                <a:path h="205000" w="1232735">
                  <a:moveTo>
                    <a:pt x="101449" y="0"/>
                  </a:moveTo>
                  <a:lnTo>
                    <a:pt x="1131285" y="0"/>
                  </a:lnTo>
                  <a:cubicBezTo>
                    <a:pt x="1187314" y="0"/>
                    <a:pt x="1232735" y="45420"/>
                    <a:pt x="1232735" y="101449"/>
                  </a:cubicBezTo>
                  <a:lnTo>
                    <a:pt x="1232735" y="103551"/>
                  </a:lnTo>
                  <a:cubicBezTo>
                    <a:pt x="1232735" y="130457"/>
                    <a:pt x="1222046" y="156261"/>
                    <a:pt x="1203021" y="175287"/>
                  </a:cubicBezTo>
                  <a:cubicBezTo>
                    <a:pt x="1183995" y="194312"/>
                    <a:pt x="1158191" y="205000"/>
                    <a:pt x="1131285" y="205000"/>
                  </a:cubicBezTo>
                  <a:lnTo>
                    <a:pt x="101449" y="205000"/>
                  </a:lnTo>
                  <a:cubicBezTo>
                    <a:pt x="74543" y="205000"/>
                    <a:pt x="48739" y="194312"/>
                    <a:pt x="29714" y="175287"/>
                  </a:cubicBezTo>
                  <a:cubicBezTo>
                    <a:pt x="10688" y="156261"/>
                    <a:pt x="0" y="130457"/>
                    <a:pt x="0" y="103551"/>
                  </a:cubicBezTo>
                  <a:lnTo>
                    <a:pt x="0" y="101449"/>
                  </a:lnTo>
                  <a:cubicBezTo>
                    <a:pt x="0" y="74543"/>
                    <a:pt x="10688" y="48739"/>
                    <a:pt x="29714" y="29714"/>
                  </a:cubicBezTo>
                  <a:cubicBezTo>
                    <a:pt x="48739" y="10688"/>
                    <a:pt x="74543" y="0"/>
                    <a:pt x="101449" y="0"/>
                  </a:cubicBezTo>
                  <a:close/>
                </a:path>
              </a:pathLst>
            </a:custGeom>
            <a:solidFill>
              <a:srgbClr val="48CFA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1232735" cy="18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83495" y="8081489"/>
            <a:ext cx="3891973" cy="647225"/>
            <a:chOff x="0" y="0"/>
            <a:chExt cx="1232735" cy="205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32735" cy="205000"/>
            </a:xfrm>
            <a:custGeom>
              <a:avLst/>
              <a:gdLst/>
              <a:ahLst/>
              <a:cxnLst/>
              <a:rect r="r" b="b" t="t" l="l"/>
              <a:pathLst>
                <a:path h="205000" w="1232735">
                  <a:moveTo>
                    <a:pt x="101449" y="0"/>
                  </a:moveTo>
                  <a:lnTo>
                    <a:pt x="1131285" y="0"/>
                  </a:lnTo>
                  <a:cubicBezTo>
                    <a:pt x="1187314" y="0"/>
                    <a:pt x="1232735" y="45420"/>
                    <a:pt x="1232735" y="101449"/>
                  </a:cubicBezTo>
                  <a:lnTo>
                    <a:pt x="1232735" y="103551"/>
                  </a:lnTo>
                  <a:cubicBezTo>
                    <a:pt x="1232735" y="130457"/>
                    <a:pt x="1222046" y="156261"/>
                    <a:pt x="1203021" y="175287"/>
                  </a:cubicBezTo>
                  <a:cubicBezTo>
                    <a:pt x="1183995" y="194312"/>
                    <a:pt x="1158191" y="205000"/>
                    <a:pt x="1131285" y="205000"/>
                  </a:cubicBezTo>
                  <a:lnTo>
                    <a:pt x="101449" y="205000"/>
                  </a:lnTo>
                  <a:cubicBezTo>
                    <a:pt x="74543" y="205000"/>
                    <a:pt x="48739" y="194312"/>
                    <a:pt x="29714" y="175287"/>
                  </a:cubicBezTo>
                  <a:cubicBezTo>
                    <a:pt x="10688" y="156261"/>
                    <a:pt x="0" y="130457"/>
                    <a:pt x="0" y="103551"/>
                  </a:cubicBezTo>
                  <a:lnTo>
                    <a:pt x="0" y="101449"/>
                  </a:lnTo>
                  <a:cubicBezTo>
                    <a:pt x="0" y="74543"/>
                    <a:pt x="10688" y="48739"/>
                    <a:pt x="29714" y="29714"/>
                  </a:cubicBezTo>
                  <a:cubicBezTo>
                    <a:pt x="48739" y="10688"/>
                    <a:pt x="74543" y="0"/>
                    <a:pt x="101449" y="0"/>
                  </a:cubicBezTo>
                  <a:close/>
                </a:path>
              </a:pathLst>
            </a:custGeom>
            <a:solidFill>
              <a:srgbClr val="FE6D7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1232735" cy="18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739322" y="3667731"/>
            <a:ext cx="4184450" cy="418445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27063" y="3667918"/>
            <a:ext cx="4182200" cy="4182200"/>
          </a:xfrm>
          <a:prstGeom prst="rect">
            <a:avLst/>
          </a:prstGeom>
        </p:spPr>
      </p:pic>
      <p:sp>
        <p:nvSpPr>
          <p:cNvPr name="Freeform 10" id="10"/>
          <p:cNvSpPr/>
          <p:nvPr/>
        </p:nvSpPr>
        <p:spPr>
          <a:xfrm flipH="false" flipV="false" rot="-10800000">
            <a:off x="13904606" y="0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5400000">
            <a:off x="14988415" y="0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800000">
            <a:off x="14988415" y="1069173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800000">
            <a:off x="17226356" y="28575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7226356" y="-1055234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142547" y="1112384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7226356" y="1112384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5400000">
            <a:off x="13904606" y="10838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28700" y="1028700"/>
            <a:ext cx="3966014" cy="1528718"/>
          </a:xfrm>
          <a:custGeom>
            <a:avLst/>
            <a:gdLst/>
            <a:ahLst/>
            <a:cxnLst/>
            <a:rect r="r" b="b" t="t" l="l"/>
            <a:pathLst>
              <a:path h="1528718" w="3966014">
                <a:moveTo>
                  <a:pt x="0" y="0"/>
                </a:moveTo>
                <a:lnTo>
                  <a:pt x="3966014" y="0"/>
                </a:lnTo>
                <a:lnTo>
                  <a:pt x="3966014" y="1528718"/>
                </a:lnTo>
                <a:lnTo>
                  <a:pt x="0" y="152871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221845" y="989062"/>
            <a:ext cx="7844309" cy="1435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44"/>
              </a:lnSpc>
            </a:pPr>
            <a:r>
              <a:rPr lang="en-US" b="true" sz="5600">
                <a:solidFill>
                  <a:srgbClr val="227C9D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TRAINING THE MODELS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623062" y="8260060"/>
            <a:ext cx="4416970" cy="342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4"/>
              </a:lnSpc>
            </a:pPr>
            <a:r>
              <a:rPr lang="en-US" b="true" sz="2494">
                <a:solidFill>
                  <a:srgbClr val="FFFFFF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TESTING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09679" y="8260060"/>
            <a:ext cx="4416970" cy="342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4"/>
              </a:lnSpc>
            </a:pPr>
            <a:r>
              <a:rPr lang="en-US" b="true" sz="2494">
                <a:solidFill>
                  <a:srgbClr val="FFFFFF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TRAINING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899043" y="4219738"/>
            <a:ext cx="6844905" cy="352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true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dataset was split into training and testing sets with a 90-10 split ratio.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-5229159">
            <a:off x="15666298" y="8440733"/>
            <a:ext cx="3491222" cy="3594189"/>
          </a:xfrm>
          <a:custGeom>
            <a:avLst/>
            <a:gdLst/>
            <a:ahLst/>
            <a:cxnLst/>
            <a:rect r="r" b="b" t="t" l="l"/>
            <a:pathLst>
              <a:path h="3594189" w="3491222">
                <a:moveTo>
                  <a:pt x="0" y="0"/>
                </a:moveTo>
                <a:lnTo>
                  <a:pt x="3491222" y="0"/>
                </a:lnTo>
                <a:lnTo>
                  <a:pt x="3491222" y="3594190"/>
                </a:lnTo>
                <a:lnTo>
                  <a:pt x="0" y="359419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223760" y="1424306"/>
            <a:ext cx="11216842" cy="7404129"/>
          </a:xfrm>
          <a:prstGeom prst="rect">
            <a:avLst/>
          </a:prstGeom>
        </p:spPr>
      </p:pic>
      <p:sp>
        <p:nvSpPr>
          <p:cNvPr name="Freeform 3" id="3"/>
          <p:cNvSpPr/>
          <p:nvPr/>
        </p:nvSpPr>
        <p:spPr>
          <a:xfrm flipH="false" flipV="false" rot="-10800000">
            <a:off x="0" y="8109857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083809" y="8109857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083809" y="9203191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3321750" y="8119382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4405559" y="8119382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237941" y="9203191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321750" y="9203191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400000">
            <a:off x="0" y="9193666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8100000">
            <a:off x="16760858" y="-1240983"/>
            <a:ext cx="7415398" cy="3565095"/>
            <a:chOff x="0" y="0"/>
            <a:chExt cx="660400" cy="317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60400" cy="317500"/>
            </a:xfrm>
            <a:custGeom>
              <a:avLst/>
              <a:gdLst/>
              <a:ahLst/>
              <a:cxnLst/>
              <a:rect r="r" b="b" t="t" l="l"/>
              <a:pathLst>
                <a:path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 flipH="true">
            <a:off x="16298854" y="-3628748"/>
            <a:ext cx="5132702" cy="5185216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H="true">
            <a:off x="16080026" y="-3842695"/>
            <a:ext cx="5038853" cy="5038853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H="true">
            <a:off x="15893267" y="-4022296"/>
            <a:ext cx="4867141" cy="4867141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H="true">
            <a:off x="15683626" y="-4148951"/>
            <a:ext cx="4690515" cy="4690515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H="true">
            <a:off x="15586790" y="-4292805"/>
            <a:ext cx="4347674" cy="4347674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13821020" y="8675314"/>
            <a:ext cx="2915093" cy="576797"/>
            <a:chOff x="0" y="0"/>
            <a:chExt cx="1036059" cy="205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36060" cy="205000"/>
            </a:xfrm>
            <a:custGeom>
              <a:avLst/>
              <a:gdLst/>
              <a:ahLst/>
              <a:cxnLst/>
              <a:rect r="r" b="b" t="t" l="l"/>
              <a:pathLst>
                <a:path h="205000" w="1036060">
                  <a:moveTo>
                    <a:pt x="102500" y="0"/>
                  </a:moveTo>
                  <a:lnTo>
                    <a:pt x="933559" y="0"/>
                  </a:lnTo>
                  <a:cubicBezTo>
                    <a:pt x="990169" y="0"/>
                    <a:pt x="1036060" y="45891"/>
                    <a:pt x="1036060" y="102500"/>
                  </a:cubicBezTo>
                  <a:lnTo>
                    <a:pt x="1036060" y="102500"/>
                  </a:lnTo>
                  <a:cubicBezTo>
                    <a:pt x="1036060" y="129685"/>
                    <a:pt x="1025260" y="155756"/>
                    <a:pt x="1006038" y="174979"/>
                  </a:cubicBezTo>
                  <a:cubicBezTo>
                    <a:pt x="986815" y="194201"/>
                    <a:pt x="960744" y="205000"/>
                    <a:pt x="933559" y="205000"/>
                  </a:cubicBezTo>
                  <a:lnTo>
                    <a:pt x="102500" y="205000"/>
                  </a:lnTo>
                  <a:cubicBezTo>
                    <a:pt x="45891" y="205000"/>
                    <a:pt x="0" y="159110"/>
                    <a:pt x="0" y="102500"/>
                  </a:cubicBezTo>
                  <a:lnTo>
                    <a:pt x="0" y="102500"/>
                  </a:lnTo>
                  <a:cubicBezTo>
                    <a:pt x="0" y="45891"/>
                    <a:pt x="45891" y="0"/>
                    <a:pt x="102500" y="0"/>
                  </a:cubicBezTo>
                  <a:close/>
                </a:path>
              </a:pathLst>
            </a:custGeom>
            <a:solidFill>
              <a:srgbClr val="FFCB77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19050"/>
              <a:ext cx="1036059" cy="18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612483" y="8681503"/>
            <a:ext cx="2915093" cy="576797"/>
            <a:chOff x="0" y="0"/>
            <a:chExt cx="1036059" cy="205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36060" cy="205000"/>
            </a:xfrm>
            <a:custGeom>
              <a:avLst/>
              <a:gdLst/>
              <a:ahLst/>
              <a:cxnLst/>
              <a:rect r="r" b="b" t="t" l="l"/>
              <a:pathLst>
                <a:path h="205000" w="1036060">
                  <a:moveTo>
                    <a:pt x="102500" y="0"/>
                  </a:moveTo>
                  <a:lnTo>
                    <a:pt x="933559" y="0"/>
                  </a:lnTo>
                  <a:cubicBezTo>
                    <a:pt x="990169" y="0"/>
                    <a:pt x="1036060" y="45891"/>
                    <a:pt x="1036060" y="102500"/>
                  </a:cubicBezTo>
                  <a:lnTo>
                    <a:pt x="1036060" y="102500"/>
                  </a:lnTo>
                  <a:cubicBezTo>
                    <a:pt x="1036060" y="129685"/>
                    <a:pt x="1025260" y="155756"/>
                    <a:pt x="1006038" y="174979"/>
                  </a:cubicBezTo>
                  <a:cubicBezTo>
                    <a:pt x="986815" y="194201"/>
                    <a:pt x="960744" y="205000"/>
                    <a:pt x="933559" y="205000"/>
                  </a:cubicBezTo>
                  <a:lnTo>
                    <a:pt x="102500" y="205000"/>
                  </a:lnTo>
                  <a:cubicBezTo>
                    <a:pt x="45891" y="205000"/>
                    <a:pt x="0" y="159110"/>
                    <a:pt x="0" y="102500"/>
                  </a:cubicBezTo>
                  <a:lnTo>
                    <a:pt x="0" y="102500"/>
                  </a:lnTo>
                  <a:cubicBezTo>
                    <a:pt x="0" y="45891"/>
                    <a:pt x="45891" y="0"/>
                    <a:pt x="102500" y="0"/>
                  </a:cubicBezTo>
                  <a:close/>
                </a:path>
              </a:pathLst>
            </a:custGeom>
            <a:solidFill>
              <a:srgbClr val="FE6D73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19050"/>
              <a:ext cx="1036059" cy="18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715426" y="8675314"/>
            <a:ext cx="2915093" cy="576797"/>
            <a:chOff x="0" y="0"/>
            <a:chExt cx="1036059" cy="205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36060" cy="205000"/>
            </a:xfrm>
            <a:custGeom>
              <a:avLst/>
              <a:gdLst/>
              <a:ahLst/>
              <a:cxnLst/>
              <a:rect r="r" b="b" t="t" l="l"/>
              <a:pathLst>
                <a:path h="205000" w="1036060">
                  <a:moveTo>
                    <a:pt x="102500" y="0"/>
                  </a:moveTo>
                  <a:lnTo>
                    <a:pt x="933559" y="0"/>
                  </a:lnTo>
                  <a:cubicBezTo>
                    <a:pt x="990169" y="0"/>
                    <a:pt x="1036060" y="45891"/>
                    <a:pt x="1036060" y="102500"/>
                  </a:cubicBezTo>
                  <a:lnTo>
                    <a:pt x="1036060" y="102500"/>
                  </a:lnTo>
                  <a:cubicBezTo>
                    <a:pt x="1036060" y="129685"/>
                    <a:pt x="1025260" y="155756"/>
                    <a:pt x="1006038" y="174979"/>
                  </a:cubicBezTo>
                  <a:cubicBezTo>
                    <a:pt x="986815" y="194201"/>
                    <a:pt x="960744" y="205000"/>
                    <a:pt x="933559" y="205000"/>
                  </a:cubicBezTo>
                  <a:lnTo>
                    <a:pt x="102500" y="205000"/>
                  </a:lnTo>
                  <a:cubicBezTo>
                    <a:pt x="45891" y="205000"/>
                    <a:pt x="0" y="159110"/>
                    <a:pt x="0" y="102500"/>
                  </a:cubicBezTo>
                  <a:lnTo>
                    <a:pt x="0" y="102500"/>
                  </a:lnTo>
                  <a:cubicBezTo>
                    <a:pt x="0" y="45891"/>
                    <a:pt x="45891" y="0"/>
                    <a:pt x="102500" y="0"/>
                  </a:cubicBezTo>
                  <a:close/>
                </a:path>
              </a:pathLst>
            </a:custGeom>
            <a:solidFill>
              <a:srgbClr val="48CFAE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19050"/>
              <a:ext cx="1036059" cy="18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678105" y="1693817"/>
            <a:ext cx="5480392" cy="1435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4"/>
              </a:lnSpc>
            </a:pPr>
            <a:r>
              <a:rPr lang="en-US" b="true" sz="5600">
                <a:solidFill>
                  <a:srgbClr val="FE6D73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MODEL EVALUATION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915875" y="3722482"/>
            <a:ext cx="4427943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The models were evaluated based on their prediction accuracy using the test data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821020" y="8832267"/>
            <a:ext cx="2915093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b="true" sz="2100">
                <a:solidFill>
                  <a:srgbClr val="FFFFFF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MODEL 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612483" y="8838457"/>
            <a:ext cx="2915093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b="true" sz="2100">
                <a:solidFill>
                  <a:srgbClr val="FFFFFF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MODEL 1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715426" y="8832267"/>
            <a:ext cx="2915093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b="true" sz="2100">
                <a:solidFill>
                  <a:srgbClr val="FFFFFF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MODEL 2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915875" y="5358684"/>
            <a:ext cx="4427943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We used the model score (R^2) as the primary evaluation metric</a:t>
            </a:r>
          </a:p>
        </p:txBody>
      </p:sp>
      <p:sp>
        <p:nvSpPr>
          <p:cNvPr name="AutoShape 34" id="34"/>
          <p:cNvSpPr/>
          <p:nvPr/>
        </p:nvSpPr>
        <p:spPr>
          <a:xfrm>
            <a:off x="1445404" y="3722482"/>
            <a:ext cx="0" cy="1171575"/>
          </a:xfrm>
          <a:prstGeom prst="line">
            <a:avLst/>
          </a:prstGeom>
          <a:ln cap="flat" w="123825">
            <a:solidFill>
              <a:srgbClr val="37768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1445404" y="5358684"/>
            <a:ext cx="0" cy="1171575"/>
          </a:xfrm>
          <a:prstGeom prst="line">
            <a:avLst/>
          </a:prstGeom>
          <a:ln cap="flat" w="123825">
            <a:solidFill>
              <a:srgbClr val="0A699E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2700000">
            <a:off x="15123821" y="-3608466"/>
            <a:ext cx="7415398" cy="3565095"/>
            <a:chOff x="0" y="0"/>
            <a:chExt cx="660400" cy="317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317500"/>
            </a:xfrm>
            <a:custGeom>
              <a:avLst/>
              <a:gdLst/>
              <a:ahLst/>
              <a:cxnLst/>
              <a:rect r="r" b="b" t="t" l="l"/>
              <a:pathLst>
                <a:path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4661208" y="-2788916"/>
            <a:ext cx="5185216" cy="5132702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4447261" y="-2476240"/>
            <a:ext cx="5038853" cy="5038853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4267660" y="-2117770"/>
            <a:ext cx="4867141" cy="4867141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4141005" y="-1731502"/>
            <a:ext cx="4690515" cy="4690515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3997151" y="-1291825"/>
            <a:ext cx="4347674" cy="4347674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-10800000">
            <a:off x="16192287" y="7062107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266571" y="7090682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182762" y="8174491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800000">
            <a:off x="16182762" y="9258300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5400000">
            <a:off x="17266571" y="9258300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88847" y="121358"/>
            <a:ext cx="1690064" cy="1690064"/>
          </a:xfrm>
          <a:custGeom>
            <a:avLst/>
            <a:gdLst/>
            <a:ahLst/>
            <a:cxnLst/>
            <a:rect r="r" b="b" t="t" l="l"/>
            <a:pathLst>
              <a:path h="1690064" w="1690064">
                <a:moveTo>
                  <a:pt x="0" y="0"/>
                </a:moveTo>
                <a:lnTo>
                  <a:pt x="1690064" y="0"/>
                </a:lnTo>
                <a:lnTo>
                  <a:pt x="1690064" y="1690064"/>
                </a:lnTo>
                <a:lnTo>
                  <a:pt x="0" y="16900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732687" y="2717420"/>
            <a:ext cx="12822626" cy="6540880"/>
          </a:xfrm>
          <a:custGeom>
            <a:avLst/>
            <a:gdLst/>
            <a:ahLst/>
            <a:cxnLst/>
            <a:rect r="r" b="b" t="t" l="l"/>
            <a:pathLst>
              <a:path h="6540880" w="12822626">
                <a:moveTo>
                  <a:pt x="0" y="0"/>
                </a:moveTo>
                <a:lnTo>
                  <a:pt x="12822626" y="0"/>
                </a:lnTo>
                <a:lnTo>
                  <a:pt x="12822626" y="6540880"/>
                </a:lnTo>
                <a:lnTo>
                  <a:pt x="0" y="65408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732687" y="1499140"/>
            <a:ext cx="6245679" cy="739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4"/>
              </a:lnSpc>
            </a:pPr>
            <a:r>
              <a:rPr lang="en-US" b="true" sz="5600">
                <a:solidFill>
                  <a:srgbClr val="227C9D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RESULTS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455394" y="1630447"/>
            <a:ext cx="126927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Page 1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120857" y="1297487"/>
            <a:ext cx="6046286" cy="1027869"/>
            <a:chOff x="0" y="0"/>
            <a:chExt cx="1592438" cy="27071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92438" cy="270714"/>
            </a:xfrm>
            <a:custGeom>
              <a:avLst/>
              <a:gdLst/>
              <a:ahLst/>
              <a:cxnLst/>
              <a:rect r="r" b="b" t="t" l="l"/>
              <a:pathLst>
                <a:path h="270714" w="1592438">
                  <a:moveTo>
                    <a:pt x="65303" y="0"/>
                  </a:moveTo>
                  <a:lnTo>
                    <a:pt x="1527135" y="0"/>
                  </a:lnTo>
                  <a:cubicBezTo>
                    <a:pt x="1544454" y="0"/>
                    <a:pt x="1561064" y="6880"/>
                    <a:pt x="1573311" y="19127"/>
                  </a:cubicBezTo>
                  <a:cubicBezTo>
                    <a:pt x="1585557" y="31373"/>
                    <a:pt x="1592438" y="47983"/>
                    <a:pt x="1592438" y="65303"/>
                  </a:cubicBezTo>
                  <a:lnTo>
                    <a:pt x="1592438" y="205412"/>
                  </a:lnTo>
                  <a:cubicBezTo>
                    <a:pt x="1592438" y="241477"/>
                    <a:pt x="1563201" y="270714"/>
                    <a:pt x="1527135" y="270714"/>
                  </a:cubicBezTo>
                  <a:lnTo>
                    <a:pt x="65303" y="270714"/>
                  </a:lnTo>
                  <a:cubicBezTo>
                    <a:pt x="47983" y="270714"/>
                    <a:pt x="31373" y="263834"/>
                    <a:pt x="19127" y="251588"/>
                  </a:cubicBezTo>
                  <a:cubicBezTo>
                    <a:pt x="6880" y="239341"/>
                    <a:pt x="0" y="222731"/>
                    <a:pt x="0" y="205412"/>
                  </a:cubicBezTo>
                  <a:lnTo>
                    <a:pt x="0" y="65303"/>
                  </a:lnTo>
                  <a:cubicBezTo>
                    <a:pt x="0" y="47983"/>
                    <a:pt x="6880" y="31373"/>
                    <a:pt x="19127" y="19127"/>
                  </a:cubicBezTo>
                  <a:cubicBezTo>
                    <a:pt x="31373" y="6880"/>
                    <a:pt x="47983" y="0"/>
                    <a:pt x="65303" y="0"/>
                  </a:cubicBezTo>
                  <a:close/>
                </a:path>
              </a:pathLst>
            </a:custGeom>
            <a:solidFill>
              <a:srgbClr val="FF967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19050"/>
              <a:ext cx="1592438" cy="2516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6464427" y="1635729"/>
            <a:ext cx="5702716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b="true" sz="3000">
                <a:solidFill>
                  <a:srgbClr val="FFFFFF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01 - LINEAR REGRESSION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2700000">
            <a:off x="15123821" y="-3608466"/>
            <a:ext cx="7415398" cy="3565095"/>
            <a:chOff x="0" y="0"/>
            <a:chExt cx="660400" cy="317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317500"/>
            </a:xfrm>
            <a:custGeom>
              <a:avLst/>
              <a:gdLst/>
              <a:ahLst/>
              <a:cxnLst/>
              <a:rect r="r" b="b" t="t" l="l"/>
              <a:pathLst>
                <a:path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4661208" y="-2788916"/>
            <a:ext cx="5185216" cy="5132702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4447261" y="-2476240"/>
            <a:ext cx="5038853" cy="5038853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4267660" y="-2117770"/>
            <a:ext cx="4867141" cy="4867141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4141005" y="-1731502"/>
            <a:ext cx="4690515" cy="4690515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3997151" y="-1291825"/>
            <a:ext cx="4347674" cy="4347674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-10800000">
            <a:off x="16192287" y="7062107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266571" y="7090682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182762" y="8174491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800000">
            <a:off x="16182762" y="9258300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5400000">
            <a:off x="17266571" y="9258300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88847" y="121358"/>
            <a:ext cx="1690064" cy="1690064"/>
          </a:xfrm>
          <a:custGeom>
            <a:avLst/>
            <a:gdLst/>
            <a:ahLst/>
            <a:cxnLst/>
            <a:rect r="r" b="b" t="t" l="l"/>
            <a:pathLst>
              <a:path h="1690064" w="1690064">
                <a:moveTo>
                  <a:pt x="0" y="0"/>
                </a:moveTo>
                <a:lnTo>
                  <a:pt x="1690064" y="0"/>
                </a:lnTo>
                <a:lnTo>
                  <a:pt x="1690064" y="1690064"/>
                </a:lnTo>
                <a:lnTo>
                  <a:pt x="0" y="16900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732687" y="2717420"/>
            <a:ext cx="12822626" cy="6540880"/>
          </a:xfrm>
          <a:custGeom>
            <a:avLst/>
            <a:gdLst/>
            <a:ahLst/>
            <a:cxnLst/>
            <a:rect r="r" b="b" t="t" l="l"/>
            <a:pathLst>
              <a:path h="6540880" w="12822626">
                <a:moveTo>
                  <a:pt x="0" y="0"/>
                </a:moveTo>
                <a:lnTo>
                  <a:pt x="12822626" y="0"/>
                </a:lnTo>
                <a:lnTo>
                  <a:pt x="12822626" y="6540880"/>
                </a:lnTo>
                <a:lnTo>
                  <a:pt x="0" y="65408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257" r="0" b="-257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732687" y="1499140"/>
            <a:ext cx="6245679" cy="739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4"/>
              </a:lnSpc>
            </a:pPr>
            <a:r>
              <a:rPr lang="en-US" b="true" sz="5600">
                <a:solidFill>
                  <a:srgbClr val="227C9D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RESULTS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455394" y="1630447"/>
            <a:ext cx="126927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Page 2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120857" y="1297487"/>
            <a:ext cx="6046286" cy="1027869"/>
            <a:chOff x="0" y="0"/>
            <a:chExt cx="1592438" cy="27071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92438" cy="270714"/>
            </a:xfrm>
            <a:custGeom>
              <a:avLst/>
              <a:gdLst/>
              <a:ahLst/>
              <a:cxnLst/>
              <a:rect r="r" b="b" t="t" l="l"/>
              <a:pathLst>
                <a:path h="270714" w="1592438">
                  <a:moveTo>
                    <a:pt x="65303" y="0"/>
                  </a:moveTo>
                  <a:lnTo>
                    <a:pt x="1527135" y="0"/>
                  </a:lnTo>
                  <a:cubicBezTo>
                    <a:pt x="1544454" y="0"/>
                    <a:pt x="1561064" y="6880"/>
                    <a:pt x="1573311" y="19127"/>
                  </a:cubicBezTo>
                  <a:cubicBezTo>
                    <a:pt x="1585557" y="31373"/>
                    <a:pt x="1592438" y="47983"/>
                    <a:pt x="1592438" y="65303"/>
                  </a:cubicBezTo>
                  <a:lnTo>
                    <a:pt x="1592438" y="205412"/>
                  </a:lnTo>
                  <a:cubicBezTo>
                    <a:pt x="1592438" y="241477"/>
                    <a:pt x="1563201" y="270714"/>
                    <a:pt x="1527135" y="270714"/>
                  </a:cubicBezTo>
                  <a:lnTo>
                    <a:pt x="65303" y="270714"/>
                  </a:lnTo>
                  <a:cubicBezTo>
                    <a:pt x="47983" y="270714"/>
                    <a:pt x="31373" y="263834"/>
                    <a:pt x="19127" y="251588"/>
                  </a:cubicBezTo>
                  <a:cubicBezTo>
                    <a:pt x="6880" y="239341"/>
                    <a:pt x="0" y="222731"/>
                    <a:pt x="0" y="205412"/>
                  </a:cubicBezTo>
                  <a:lnTo>
                    <a:pt x="0" y="65303"/>
                  </a:lnTo>
                  <a:cubicBezTo>
                    <a:pt x="0" y="47983"/>
                    <a:pt x="6880" y="31373"/>
                    <a:pt x="19127" y="19127"/>
                  </a:cubicBezTo>
                  <a:cubicBezTo>
                    <a:pt x="31373" y="6880"/>
                    <a:pt x="47983" y="0"/>
                    <a:pt x="65303" y="0"/>
                  </a:cubicBezTo>
                  <a:close/>
                </a:path>
              </a:pathLst>
            </a:custGeom>
            <a:solidFill>
              <a:srgbClr val="A4B9FB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19050"/>
              <a:ext cx="1592438" cy="2516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6464427" y="1635729"/>
            <a:ext cx="5702716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b="true" sz="3000">
                <a:solidFill>
                  <a:srgbClr val="FFFFFF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02 - RANDOM FOREST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2700000">
            <a:off x="15123821" y="-3608466"/>
            <a:ext cx="7415398" cy="3565095"/>
            <a:chOff x="0" y="0"/>
            <a:chExt cx="660400" cy="317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317500"/>
            </a:xfrm>
            <a:custGeom>
              <a:avLst/>
              <a:gdLst/>
              <a:ahLst/>
              <a:cxnLst/>
              <a:rect r="r" b="b" t="t" l="l"/>
              <a:pathLst>
                <a:path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4661208" y="-2788916"/>
            <a:ext cx="5185216" cy="5132702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4447261" y="-2476240"/>
            <a:ext cx="5038853" cy="5038853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4267660" y="-2117770"/>
            <a:ext cx="4867141" cy="4867141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4141005" y="-1731502"/>
            <a:ext cx="4690515" cy="4690515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3997151" y="-1291825"/>
            <a:ext cx="4347674" cy="4347674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-10800000">
            <a:off x="16192287" y="7062107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266571" y="7090682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182762" y="8174491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800000">
            <a:off x="16182762" y="9258300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5400000">
            <a:off x="17266571" y="9258300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88847" y="121358"/>
            <a:ext cx="1690064" cy="1690064"/>
          </a:xfrm>
          <a:custGeom>
            <a:avLst/>
            <a:gdLst/>
            <a:ahLst/>
            <a:cxnLst/>
            <a:rect r="r" b="b" t="t" l="l"/>
            <a:pathLst>
              <a:path h="1690064" w="1690064">
                <a:moveTo>
                  <a:pt x="0" y="0"/>
                </a:moveTo>
                <a:lnTo>
                  <a:pt x="1690064" y="0"/>
                </a:lnTo>
                <a:lnTo>
                  <a:pt x="1690064" y="1690064"/>
                </a:lnTo>
                <a:lnTo>
                  <a:pt x="0" y="16900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732687" y="2717420"/>
            <a:ext cx="12822626" cy="6540880"/>
          </a:xfrm>
          <a:custGeom>
            <a:avLst/>
            <a:gdLst/>
            <a:ahLst/>
            <a:cxnLst/>
            <a:rect r="r" b="b" t="t" l="l"/>
            <a:pathLst>
              <a:path h="6540880" w="12822626">
                <a:moveTo>
                  <a:pt x="0" y="0"/>
                </a:moveTo>
                <a:lnTo>
                  <a:pt x="12822626" y="0"/>
                </a:lnTo>
                <a:lnTo>
                  <a:pt x="12822626" y="6540880"/>
                </a:lnTo>
                <a:lnTo>
                  <a:pt x="0" y="65408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1148" r="0" b="-1148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732687" y="1499140"/>
            <a:ext cx="6245679" cy="739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4"/>
              </a:lnSpc>
            </a:pPr>
            <a:r>
              <a:rPr lang="en-US" b="true" sz="5600">
                <a:solidFill>
                  <a:srgbClr val="227C9D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RESULTS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455394" y="1630447"/>
            <a:ext cx="126927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Page 3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120857" y="1297487"/>
            <a:ext cx="6046286" cy="1027869"/>
            <a:chOff x="0" y="0"/>
            <a:chExt cx="1592438" cy="27071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92438" cy="270714"/>
            </a:xfrm>
            <a:custGeom>
              <a:avLst/>
              <a:gdLst/>
              <a:ahLst/>
              <a:cxnLst/>
              <a:rect r="r" b="b" t="t" l="l"/>
              <a:pathLst>
                <a:path h="270714" w="1592438">
                  <a:moveTo>
                    <a:pt x="65303" y="0"/>
                  </a:moveTo>
                  <a:lnTo>
                    <a:pt x="1527135" y="0"/>
                  </a:lnTo>
                  <a:cubicBezTo>
                    <a:pt x="1544454" y="0"/>
                    <a:pt x="1561064" y="6880"/>
                    <a:pt x="1573311" y="19127"/>
                  </a:cubicBezTo>
                  <a:cubicBezTo>
                    <a:pt x="1585557" y="31373"/>
                    <a:pt x="1592438" y="47983"/>
                    <a:pt x="1592438" y="65303"/>
                  </a:cubicBezTo>
                  <a:lnTo>
                    <a:pt x="1592438" y="205412"/>
                  </a:lnTo>
                  <a:cubicBezTo>
                    <a:pt x="1592438" y="241477"/>
                    <a:pt x="1563201" y="270714"/>
                    <a:pt x="1527135" y="270714"/>
                  </a:cubicBezTo>
                  <a:lnTo>
                    <a:pt x="65303" y="270714"/>
                  </a:lnTo>
                  <a:cubicBezTo>
                    <a:pt x="47983" y="270714"/>
                    <a:pt x="31373" y="263834"/>
                    <a:pt x="19127" y="251588"/>
                  </a:cubicBezTo>
                  <a:cubicBezTo>
                    <a:pt x="6880" y="239341"/>
                    <a:pt x="0" y="222731"/>
                    <a:pt x="0" y="205412"/>
                  </a:cubicBezTo>
                  <a:lnTo>
                    <a:pt x="0" y="65303"/>
                  </a:lnTo>
                  <a:cubicBezTo>
                    <a:pt x="0" y="47983"/>
                    <a:pt x="6880" y="31373"/>
                    <a:pt x="19127" y="19127"/>
                  </a:cubicBezTo>
                  <a:cubicBezTo>
                    <a:pt x="31373" y="6880"/>
                    <a:pt x="47983" y="0"/>
                    <a:pt x="65303" y="0"/>
                  </a:cubicBezTo>
                  <a:close/>
                </a:path>
              </a:pathLst>
            </a:custGeom>
            <a:solidFill>
              <a:srgbClr val="48CFAE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19050"/>
              <a:ext cx="1592438" cy="2516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6464427" y="1606115"/>
            <a:ext cx="5702716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b="true" sz="3000">
                <a:solidFill>
                  <a:srgbClr val="FFFFFF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03 - DECISION TREE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2700000">
            <a:off x="15123821" y="-3608466"/>
            <a:ext cx="7415398" cy="3565095"/>
            <a:chOff x="0" y="0"/>
            <a:chExt cx="660400" cy="317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317500"/>
            </a:xfrm>
            <a:custGeom>
              <a:avLst/>
              <a:gdLst/>
              <a:ahLst/>
              <a:cxnLst/>
              <a:rect r="r" b="b" t="t" l="l"/>
              <a:pathLst>
                <a:path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4661208" y="-2788916"/>
            <a:ext cx="5185216" cy="5132702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4447261" y="-2476240"/>
            <a:ext cx="5038853" cy="5038853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4267660" y="-2117770"/>
            <a:ext cx="4867141" cy="4867141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4141005" y="-1731502"/>
            <a:ext cx="4690515" cy="4690515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3997151" y="-1291825"/>
            <a:ext cx="4347674" cy="4347674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-10800000">
            <a:off x="16192287" y="7062107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266571" y="7090682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182762" y="8174491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800000">
            <a:off x="16182762" y="9258300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5400000">
            <a:off x="17266571" y="9258300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88847" y="121358"/>
            <a:ext cx="1690064" cy="1690064"/>
          </a:xfrm>
          <a:custGeom>
            <a:avLst/>
            <a:gdLst/>
            <a:ahLst/>
            <a:cxnLst/>
            <a:rect r="r" b="b" t="t" l="l"/>
            <a:pathLst>
              <a:path h="1690064" w="1690064">
                <a:moveTo>
                  <a:pt x="0" y="0"/>
                </a:moveTo>
                <a:lnTo>
                  <a:pt x="1690064" y="0"/>
                </a:lnTo>
                <a:lnTo>
                  <a:pt x="1690064" y="1690064"/>
                </a:lnTo>
                <a:lnTo>
                  <a:pt x="0" y="16900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732687" y="2717420"/>
            <a:ext cx="12822626" cy="6540880"/>
          </a:xfrm>
          <a:custGeom>
            <a:avLst/>
            <a:gdLst/>
            <a:ahLst/>
            <a:cxnLst/>
            <a:rect r="r" b="b" t="t" l="l"/>
            <a:pathLst>
              <a:path h="6540880" w="12822626">
                <a:moveTo>
                  <a:pt x="0" y="0"/>
                </a:moveTo>
                <a:lnTo>
                  <a:pt x="12822626" y="0"/>
                </a:lnTo>
                <a:lnTo>
                  <a:pt x="12822626" y="6540880"/>
                </a:lnTo>
                <a:lnTo>
                  <a:pt x="0" y="65408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2752" r="0" b="-2752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732687" y="1499140"/>
            <a:ext cx="6245679" cy="739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4"/>
              </a:lnSpc>
            </a:pPr>
            <a:r>
              <a:rPr lang="en-US" b="true" sz="5600">
                <a:solidFill>
                  <a:srgbClr val="227C9D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RESULTS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455394" y="1630447"/>
            <a:ext cx="126927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Page 4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120857" y="1297487"/>
            <a:ext cx="6046286" cy="1027869"/>
            <a:chOff x="0" y="0"/>
            <a:chExt cx="1592438" cy="27071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92438" cy="270714"/>
            </a:xfrm>
            <a:custGeom>
              <a:avLst/>
              <a:gdLst/>
              <a:ahLst/>
              <a:cxnLst/>
              <a:rect r="r" b="b" t="t" l="l"/>
              <a:pathLst>
                <a:path h="270714" w="1592438">
                  <a:moveTo>
                    <a:pt x="65303" y="0"/>
                  </a:moveTo>
                  <a:lnTo>
                    <a:pt x="1527135" y="0"/>
                  </a:lnTo>
                  <a:cubicBezTo>
                    <a:pt x="1544454" y="0"/>
                    <a:pt x="1561064" y="6880"/>
                    <a:pt x="1573311" y="19127"/>
                  </a:cubicBezTo>
                  <a:cubicBezTo>
                    <a:pt x="1585557" y="31373"/>
                    <a:pt x="1592438" y="47983"/>
                    <a:pt x="1592438" y="65303"/>
                  </a:cubicBezTo>
                  <a:lnTo>
                    <a:pt x="1592438" y="205412"/>
                  </a:lnTo>
                  <a:cubicBezTo>
                    <a:pt x="1592438" y="241477"/>
                    <a:pt x="1563201" y="270714"/>
                    <a:pt x="1527135" y="270714"/>
                  </a:cubicBezTo>
                  <a:lnTo>
                    <a:pt x="65303" y="270714"/>
                  </a:lnTo>
                  <a:cubicBezTo>
                    <a:pt x="47983" y="270714"/>
                    <a:pt x="31373" y="263834"/>
                    <a:pt x="19127" y="251588"/>
                  </a:cubicBezTo>
                  <a:cubicBezTo>
                    <a:pt x="6880" y="239341"/>
                    <a:pt x="0" y="222731"/>
                    <a:pt x="0" y="205412"/>
                  </a:cubicBezTo>
                  <a:lnTo>
                    <a:pt x="0" y="65303"/>
                  </a:lnTo>
                  <a:cubicBezTo>
                    <a:pt x="0" y="47983"/>
                    <a:pt x="6880" y="31373"/>
                    <a:pt x="19127" y="19127"/>
                  </a:cubicBezTo>
                  <a:cubicBezTo>
                    <a:pt x="31373" y="6880"/>
                    <a:pt x="47983" y="0"/>
                    <a:pt x="65303" y="0"/>
                  </a:cubicBezTo>
                  <a:close/>
                </a:path>
              </a:pathLst>
            </a:custGeom>
            <a:solidFill>
              <a:srgbClr val="1986C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19050"/>
              <a:ext cx="1592438" cy="2516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6464427" y="1635729"/>
            <a:ext cx="5702716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b="true" sz="3000">
                <a:solidFill>
                  <a:srgbClr val="FFFFFF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04 - GRADIENT BOOSTING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2700000">
            <a:off x="15123821" y="-3608466"/>
            <a:ext cx="7415398" cy="3565095"/>
            <a:chOff x="0" y="0"/>
            <a:chExt cx="660400" cy="317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317500"/>
            </a:xfrm>
            <a:custGeom>
              <a:avLst/>
              <a:gdLst/>
              <a:ahLst/>
              <a:cxnLst/>
              <a:rect r="r" b="b" t="t" l="l"/>
              <a:pathLst>
                <a:path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4661208" y="-2788916"/>
            <a:ext cx="5185216" cy="5132702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4447261" y="-2476240"/>
            <a:ext cx="5038853" cy="5038853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4267660" y="-2117770"/>
            <a:ext cx="4867141" cy="4867141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4141005" y="-1731502"/>
            <a:ext cx="4690515" cy="4690515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3997151" y="-1291825"/>
            <a:ext cx="4347674" cy="4347674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-10800000">
            <a:off x="16192287" y="7062107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266571" y="7090682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182762" y="8174491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800000">
            <a:off x="16182762" y="9258300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5400000">
            <a:off x="17266571" y="9258300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88847" y="121358"/>
            <a:ext cx="1690064" cy="1690064"/>
          </a:xfrm>
          <a:custGeom>
            <a:avLst/>
            <a:gdLst/>
            <a:ahLst/>
            <a:cxnLst/>
            <a:rect r="r" b="b" t="t" l="l"/>
            <a:pathLst>
              <a:path h="1690064" w="1690064">
                <a:moveTo>
                  <a:pt x="0" y="0"/>
                </a:moveTo>
                <a:lnTo>
                  <a:pt x="1690064" y="0"/>
                </a:lnTo>
                <a:lnTo>
                  <a:pt x="1690064" y="1690064"/>
                </a:lnTo>
                <a:lnTo>
                  <a:pt x="0" y="16900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732687" y="2717420"/>
            <a:ext cx="12822626" cy="6540880"/>
          </a:xfrm>
          <a:custGeom>
            <a:avLst/>
            <a:gdLst/>
            <a:ahLst/>
            <a:cxnLst/>
            <a:rect r="r" b="b" t="t" l="l"/>
            <a:pathLst>
              <a:path h="6540880" w="12822626">
                <a:moveTo>
                  <a:pt x="0" y="0"/>
                </a:moveTo>
                <a:lnTo>
                  <a:pt x="12822626" y="0"/>
                </a:lnTo>
                <a:lnTo>
                  <a:pt x="12822626" y="6540880"/>
                </a:lnTo>
                <a:lnTo>
                  <a:pt x="0" y="65408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1148" r="0" b="-1148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732687" y="1499140"/>
            <a:ext cx="6245679" cy="739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4"/>
              </a:lnSpc>
            </a:pPr>
            <a:r>
              <a:rPr lang="en-US" b="true" sz="5600">
                <a:solidFill>
                  <a:srgbClr val="227C9D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RESULTS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455394" y="1630447"/>
            <a:ext cx="126927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Page 5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5955222" y="1324786"/>
            <a:ext cx="8994108" cy="973271"/>
            <a:chOff x="0" y="0"/>
            <a:chExt cx="2368818" cy="25633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368818" cy="256335"/>
            </a:xfrm>
            <a:custGeom>
              <a:avLst/>
              <a:gdLst/>
              <a:ahLst/>
              <a:cxnLst/>
              <a:rect r="r" b="b" t="t" l="l"/>
              <a:pathLst>
                <a:path h="256335" w="2368818">
                  <a:moveTo>
                    <a:pt x="43900" y="0"/>
                  </a:moveTo>
                  <a:lnTo>
                    <a:pt x="2324919" y="0"/>
                  </a:lnTo>
                  <a:cubicBezTo>
                    <a:pt x="2349164" y="0"/>
                    <a:pt x="2368818" y="19655"/>
                    <a:pt x="2368818" y="43900"/>
                  </a:cubicBezTo>
                  <a:lnTo>
                    <a:pt x="2368818" y="212435"/>
                  </a:lnTo>
                  <a:cubicBezTo>
                    <a:pt x="2368818" y="236680"/>
                    <a:pt x="2349164" y="256335"/>
                    <a:pt x="2324919" y="256335"/>
                  </a:cubicBezTo>
                  <a:lnTo>
                    <a:pt x="43900" y="256335"/>
                  </a:lnTo>
                  <a:cubicBezTo>
                    <a:pt x="19655" y="256335"/>
                    <a:pt x="0" y="236680"/>
                    <a:pt x="0" y="212435"/>
                  </a:cubicBezTo>
                  <a:lnTo>
                    <a:pt x="0" y="43900"/>
                  </a:lnTo>
                  <a:cubicBezTo>
                    <a:pt x="0" y="19655"/>
                    <a:pt x="19655" y="0"/>
                    <a:pt x="43900" y="0"/>
                  </a:cubicBezTo>
                  <a:close/>
                </a:path>
              </a:pathLst>
            </a:custGeom>
            <a:solidFill>
              <a:srgbClr val="FFB846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19050"/>
              <a:ext cx="2368818" cy="237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6467843" y="1630447"/>
            <a:ext cx="7968867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b="true" sz="3000">
                <a:solidFill>
                  <a:srgbClr val="FFFFFF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05 - SUPPORT VECTOR REGRESSION (SVR)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2700000">
            <a:off x="15123821" y="-3608466"/>
            <a:ext cx="7415398" cy="3565095"/>
            <a:chOff x="0" y="0"/>
            <a:chExt cx="660400" cy="317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317500"/>
            </a:xfrm>
            <a:custGeom>
              <a:avLst/>
              <a:gdLst/>
              <a:ahLst/>
              <a:cxnLst/>
              <a:rect r="r" b="b" t="t" l="l"/>
              <a:pathLst>
                <a:path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4661208" y="-2788916"/>
            <a:ext cx="5185216" cy="5132702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4447261" y="-2476240"/>
            <a:ext cx="5038853" cy="5038853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4267660" y="-2117770"/>
            <a:ext cx="4867141" cy="4867141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4141005" y="-1731502"/>
            <a:ext cx="4690515" cy="4690515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3997151" y="-1291825"/>
            <a:ext cx="4347674" cy="4347674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-10800000">
            <a:off x="16192287" y="7062107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266571" y="7090682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182762" y="8174491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800000">
            <a:off x="16182762" y="9258300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5400000">
            <a:off x="17266571" y="9258300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88847" y="121358"/>
            <a:ext cx="1690064" cy="1690064"/>
          </a:xfrm>
          <a:custGeom>
            <a:avLst/>
            <a:gdLst/>
            <a:ahLst/>
            <a:cxnLst/>
            <a:rect r="r" b="b" t="t" l="l"/>
            <a:pathLst>
              <a:path h="1690064" w="1690064">
                <a:moveTo>
                  <a:pt x="0" y="0"/>
                </a:moveTo>
                <a:lnTo>
                  <a:pt x="1690064" y="0"/>
                </a:lnTo>
                <a:lnTo>
                  <a:pt x="1690064" y="1690064"/>
                </a:lnTo>
                <a:lnTo>
                  <a:pt x="0" y="16900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732687" y="2717420"/>
            <a:ext cx="12822626" cy="6540880"/>
          </a:xfrm>
          <a:custGeom>
            <a:avLst/>
            <a:gdLst/>
            <a:ahLst/>
            <a:cxnLst/>
            <a:rect r="r" b="b" t="t" l="l"/>
            <a:pathLst>
              <a:path h="6540880" w="12822626">
                <a:moveTo>
                  <a:pt x="0" y="0"/>
                </a:moveTo>
                <a:lnTo>
                  <a:pt x="12822626" y="0"/>
                </a:lnTo>
                <a:lnTo>
                  <a:pt x="12822626" y="6540880"/>
                </a:lnTo>
                <a:lnTo>
                  <a:pt x="0" y="65408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969" r="0" b="-969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732687" y="1499140"/>
            <a:ext cx="3151500" cy="739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4"/>
              </a:lnSpc>
            </a:pPr>
            <a:r>
              <a:rPr lang="en-US" b="true" sz="5600">
                <a:solidFill>
                  <a:srgbClr val="227C9D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RESULTS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455394" y="1630447"/>
            <a:ext cx="126927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Page 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936530" y="1586631"/>
            <a:ext cx="3992899" cy="525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4000" b="true">
                <a:solidFill>
                  <a:srgbClr val="545454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(All Models)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3253" y="1763252"/>
            <a:ext cx="11585368" cy="8460496"/>
          </a:xfrm>
          <a:prstGeom prst="rect">
            <a:avLst/>
          </a:prstGeom>
        </p:spPr>
      </p:pic>
      <p:sp>
        <p:nvSpPr>
          <p:cNvPr name="Freeform 3" id="3"/>
          <p:cNvSpPr/>
          <p:nvPr/>
        </p:nvSpPr>
        <p:spPr>
          <a:xfrm flipH="false" flipV="false" rot="0">
            <a:off x="4905969" y="528863"/>
            <a:ext cx="1410354" cy="1330861"/>
          </a:xfrm>
          <a:custGeom>
            <a:avLst/>
            <a:gdLst/>
            <a:ahLst/>
            <a:cxnLst/>
            <a:rect r="r" b="b" t="t" l="l"/>
            <a:pathLst>
              <a:path h="1330861" w="1410354">
                <a:moveTo>
                  <a:pt x="0" y="0"/>
                </a:moveTo>
                <a:lnTo>
                  <a:pt x="1410354" y="0"/>
                </a:lnTo>
                <a:lnTo>
                  <a:pt x="1410354" y="1330861"/>
                </a:lnTo>
                <a:lnTo>
                  <a:pt x="0" y="13308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683173" y="3423412"/>
            <a:ext cx="344766" cy="344766"/>
            <a:chOff x="0" y="0"/>
            <a:chExt cx="90803" cy="908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0803" cy="90803"/>
            </a:xfrm>
            <a:custGeom>
              <a:avLst/>
              <a:gdLst/>
              <a:ahLst/>
              <a:cxnLst/>
              <a:rect r="r" b="b" t="t" l="l"/>
              <a:pathLst>
                <a:path h="90803" w="90803">
                  <a:moveTo>
                    <a:pt x="0" y="0"/>
                  </a:moveTo>
                  <a:lnTo>
                    <a:pt x="90803" y="0"/>
                  </a:lnTo>
                  <a:lnTo>
                    <a:pt x="90803" y="90803"/>
                  </a:lnTo>
                  <a:lnTo>
                    <a:pt x="0" y="90803"/>
                  </a:lnTo>
                  <a:close/>
                </a:path>
              </a:pathLst>
            </a:custGeom>
            <a:solidFill>
              <a:srgbClr val="064D6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90803" cy="717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683173" y="5648712"/>
            <a:ext cx="344766" cy="344766"/>
            <a:chOff x="0" y="0"/>
            <a:chExt cx="90803" cy="9080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0803" cy="90803"/>
            </a:xfrm>
            <a:custGeom>
              <a:avLst/>
              <a:gdLst/>
              <a:ahLst/>
              <a:cxnLst/>
              <a:rect r="r" b="b" t="t" l="l"/>
              <a:pathLst>
                <a:path h="90803" w="90803">
                  <a:moveTo>
                    <a:pt x="0" y="0"/>
                  </a:moveTo>
                  <a:lnTo>
                    <a:pt x="90803" y="0"/>
                  </a:lnTo>
                  <a:lnTo>
                    <a:pt x="90803" y="90803"/>
                  </a:lnTo>
                  <a:lnTo>
                    <a:pt x="0" y="90803"/>
                  </a:lnTo>
                  <a:close/>
                </a:path>
              </a:pathLst>
            </a:custGeom>
            <a:solidFill>
              <a:srgbClr val="064D6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90803" cy="717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440384" y="876730"/>
            <a:ext cx="10585643" cy="739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44"/>
              </a:lnSpc>
            </a:pPr>
            <a:r>
              <a:rPr lang="en-US" b="true" sz="5600">
                <a:solidFill>
                  <a:srgbClr val="48CFAE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OVERALL RESULT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269403" y="3268671"/>
            <a:ext cx="6128420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Linear Regression an</a:t>
            </a:r>
            <a:r>
              <a:rPr lang="en-US" sz="3000" b="true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 Random Forest performed well, closely matching the actual prices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269403" y="5504772"/>
            <a:ext cx="612842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Gradient Boosting also showed promising results, while Decision Tree and SVR had some variance.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33915" y="3195034"/>
            <a:ext cx="10620170" cy="133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b="true" sz="9999">
                <a:solidFill>
                  <a:srgbClr val="227C9D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SUMMARY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7204191" y="-551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204191" y="1028700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5400000">
            <a:off x="17204191" y="21125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20382" y="-551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15036573" y="1028700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16120382" y="21125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-10800000">
            <a:off x="15036573" y="21125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5400000">
            <a:off x="12770705" y="-551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-10800000">
            <a:off x="12770705" y="1028700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800000">
            <a:off x="9525" y="7044155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83809" y="7072730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0" y="815653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0800000">
            <a:off x="0" y="9240348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5400000">
            <a:off x="1083809" y="9240348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10800000">
            <a:off x="3321750" y="9268923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321750" y="8185114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5400000">
            <a:off x="4405559" y="9268923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2700000">
            <a:off x="14381224" y="7574679"/>
            <a:ext cx="7415398" cy="3565095"/>
            <a:chOff x="0" y="0"/>
            <a:chExt cx="660400" cy="3175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60400" cy="317500"/>
            </a:xfrm>
            <a:custGeom>
              <a:avLst/>
              <a:gdLst/>
              <a:ahLst/>
              <a:cxnLst/>
              <a:rect r="r" b="b" t="t" l="l"/>
              <a:pathLst>
                <a:path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</a:p>
          </p:txBody>
        </p:sp>
      </p:grpSp>
      <p:sp>
        <p:nvSpPr>
          <p:cNvPr name="AutoShape 23" id="23"/>
          <p:cNvSpPr/>
          <p:nvPr/>
        </p:nvSpPr>
        <p:spPr>
          <a:xfrm>
            <a:off x="13918610" y="8394229"/>
            <a:ext cx="5185216" cy="5132702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13704664" y="8706905"/>
            <a:ext cx="5038853" cy="5038853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13525062" y="9065375"/>
            <a:ext cx="4867141" cy="4867141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13398407" y="9451643"/>
            <a:ext cx="4690515" cy="4690515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13254553" y="9891320"/>
            <a:ext cx="4347674" cy="4347674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2700000">
            <a:off x="-1376391" y="-3093321"/>
            <a:ext cx="7415398" cy="3565095"/>
            <a:chOff x="0" y="0"/>
            <a:chExt cx="660400" cy="3175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60400" cy="317500"/>
            </a:xfrm>
            <a:custGeom>
              <a:avLst/>
              <a:gdLst/>
              <a:ahLst/>
              <a:cxnLst/>
              <a:rect r="r" b="b" t="t" l="l"/>
              <a:pathLst>
                <a:path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</a:p>
          </p:txBody>
        </p:sp>
      </p:grpSp>
      <p:sp>
        <p:nvSpPr>
          <p:cNvPr name="AutoShape 31" id="31"/>
          <p:cNvSpPr/>
          <p:nvPr/>
        </p:nvSpPr>
        <p:spPr>
          <a:xfrm>
            <a:off x="-1839005" y="-2273771"/>
            <a:ext cx="5185216" cy="5132702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>
            <a:off x="-2052951" y="-1961095"/>
            <a:ext cx="5038853" cy="5038853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-2232553" y="-1602625"/>
            <a:ext cx="4867141" cy="4867141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>
            <a:off x="-2359208" y="-1216357"/>
            <a:ext cx="4690515" cy="4690515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-2503062" y="-776680"/>
            <a:ext cx="4347674" cy="4347674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>
            <a:off x="-2623881" y="-332957"/>
            <a:ext cx="3963599" cy="3985594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>
            <a:off x="-2598114" y="228677"/>
            <a:ext cx="3377485" cy="3360058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>
            <a:off x="-2509797" y="905760"/>
            <a:ext cx="2628598" cy="2671969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9" id="39"/>
          <p:cNvSpPr txBox="true"/>
          <p:nvPr/>
        </p:nvSpPr>
        <p:spPr>
          <a:xfrm rot="0">
            <a:off x="3784200" y="4624805"/>
            <a:ext cx="10719600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39"/>
              </a:lnSpc>
            </a:pPr>
            <a:r>
              <a:rPr lang="en-US" sz="3699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Random Forest provided the best balance of accuracy and stability, making it the most reliable model for our dataset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33915" y="2855027"/>
            <a:ext cx="10620170" cy="1657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99"/>
              </a:lnSpc>
            </a:pPr>
            <a:r>
              <a:rPr lang="en-US" b="true" sz="12399">
                <a:solidFill>
                  <a:srgbClr val="227C9D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THANK YOU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7204191" y="-551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204191" y="1028700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5400000">
            <a:off x="17204191" y="21125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20382" y="-551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15036573" y="1028700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16120382" y="21125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-10800000">
            <a:off x="15036573" y="21125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5400000">
            <a:off x="12770705" y="-551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-10800000">
            <a:off x="12770705" y="1028700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800000">
            <a:off x="9525" y="7044155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83809" y="7072730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0" y="815653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0800000">
            <a:off x="0" y="9240348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5400000">
            <a:off x="1083809" y="9240348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10800000">
            <a:off x="3321750" y="9268923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321750" y="8185114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5400000">
            <a:off x="4405559" y="9268923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3123603" y="5475036"/>
            <a:ext cx="8847511" cy="8855676"/>
            <a:chOff x="0" y="0"/>
            <a:chExt cx="11796681" cy="11807568"/>
          </a:xfrm>
        </p:grpSpPr>
        <p:grpSp>
          <p:nvGrpSpPr>
            <p:cNvPr name="Group 21" id="21"/>
            <p:cNvGrpSpPr/>
            <p:nvPr/>
          </p:nvGrpSpPr>
          <p:grpSpPr>
            <a:xfrm rot="2700000">
              <a:off x="1676828" y="2799524"/>
              <a:ext cx="9887197" cy="4753460"/>
              <a:chOff x="0" y="0"/>
              <a:chExt cx="660400" cy="3175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660400" cy="317500"/>
              </a:xfrm>
              <a:custGeom>
                <a:avLst/>
                <a:gdLst/>
                <a:ahLst/>
                <a:cxnLst/>
                <a:rect r="r" b="b" t="t" l="l"/>
                <a:pathLst>
                  <a:path h="3175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17500"/>
                    </a:cubicBezTo>
                    <a:lnTo>
                      <a:pt x="660400" y="317500"/>
                    </a:lnTo>
                    <a:lnTo>
                      <a:pt x="0" y="317500"/>
                    </a:lnTo>
                    <a:lnTo>
                      <a:pt x="0" y="317500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8CA9AD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146050"/>
                <a:ext cx="660400" cy="171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53"/>
                  </a:lnSpc>
                </a:pPr>
              </a:p>
            </p:txBody>
          </p:sp>
        </p:grpSp>
        <p:sp>
          <p:nvSpPr>
            <p:cNvPr name="AutoShape 24" id="24"/>
            <p:cNvSpPr/>
            <p:nvPr/>
          </p:nvSpPr>
          <p:spPr>
            <a:xfrm>
              <a:off x="1060010" y="3892256"/>
              <a:ext cx="6913622" cy="6843603"/>
            </a:xfrm>
            <a:prstGeom prst="line">
              <a:avLst/>
            </a:prstGeom>
            <a:ln cap="flat" w="38100">
              <a:solidFill>
                <a:srgbClr val="8CA9A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5" id="25"/>
            <p:cNvSpPr/>
            <p:nvPr/>
          </p:nvSpPr>
          <p:spPr>
            <a:xfrm>
              <a:off x="774748" y="4309159"/>
              <a:ext cx="6718471" cy="6718471"/>
            </a:xfrm>
            <a:prstGeom prst="line">
              <a:avLst/>
            </a:prstGeom>
            <a:ln cap="flat" w="38100">
              <a:solidFill>
                <a:srgbClr val="8CA9A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6" id="26"/>
            <p:cNvSpPr/>
            <p:nvPr/>
          </p:nvSpPr>
          <p:spPr>
            <a:xfrm>
              <a:off x="535279" y="4787119"/>
              <a:ext cx="6489522" cy="6489522"/>
            </a:xfrm>
            <a:prstGeom prst="line">
              <a:avLst/>
            </a:prstGeom>
            <a:ln cap="flat" w="38100">
              <a:solidFill>
                <a:srgbClr val="8CA9A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7" id="27"/>
            <p:cNvSpPr/>
            <p:nvPr/>
          </p:nvSpPr>
          <p:spPr>
            <a:xfrm>
              <a:off x="366406" y="5302142"/>
              <a:ext cx="6254021" cy="6254021"/>
            </a:xfrm>
            <a:prstGeom prst="line">
              <a:avLst/>
            </a:prstGeom>
            <a:ln cap="flat" w="38100">
              <a:solidFill>
                <a:srgbClr val="8CA9A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8" id="28"/>
            <p:cNvSpPr/>
            <p:nvPr/>
          </p:nvSpPr>
          <p:spPr>
            <a:xfrm>
              <a:off x="174601" y="5888378"/>
              <a:ext cx="5796899" cy="5796899"/>
            </a:xfrm>
            <a:prstGeom prst="line">
              <a:avLst/>
            </a:prstGeom>
            <a:ln cap="flat" w="38100">
              <a:solidFill>
                <a:srgbClr val="8CA9A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9" id="29"/>
            <p:cNvSpPr/>
            <p:nvPr/>
          </p:nvSpPr>
          <p:spPr>
            <a:xfrm>
              <a:off x="13508" y="6480010"/>
              <a:ext cx="5284799" cy="5314125"/>
            </a:xfrm>
            <a:prstGeom prst="line">
              <a:avLst/>
            </a:prstGeom>
            <a:ln cap="flat" w="38100">
              <a:solidFill>
                <a:srgbClr val="8CA9A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0" id="30"/>
            <p:cNvSpPr/>
            <p:nvPr/>
          </p:nvSpPr>
          <p:spPr>
            <a:xfrm>
              <a:off x="47865" y="7228854"/>
              <a:ext cx="4503313" cy="4480077"/>
            </a:xfrm>
            <a:prstGeom prst="line">
              <a:avLst/>
            </a:prstGeom>
            <a:ln cap="flat" w="38100">
              <a:solidFill>
                <a:srgbClr val="8CA9A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1" id="31"/>
            <p:cNvSpPr/>
            <p:nvPr/>
          </p:nvSpPr>
          <p:spPr>
            <a:xfrm>
              <a:off x="165620" y="8131631"/>
              <a:ext cx="3504797" cy="3562626"/>
            </a:xfrm>
            <a:prstGeom prst="line">
              <a:avLst/>
            </a:prstGeom>
            <a:ln cap="flat" w="38100">
              <a:solidFill>
                <a:srgbClr val="8CA9A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2" id="32"/>
            <p:cNvSpPr/>
            <p:nvPr/>
          </p:nvSpPr>
          <p:spPr>
            <a:xfrm>
              <a:off x="676661" y="9346264"/>
              <a:ext cx="1790115" cy="1790115"/>
            </a:xfrm>
            <a:prstGeom prst="line">
              <a:avLst/>
            </a:prstGeom>
            <a:ln cap="flat" w="38100">
              <a:solidFill>
                <a:srgbClr val="8CA9AD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-2634012" y="-5192964"/>
            <a:ext cx="8847511" cy="8855676"/>
            <a:chOff x="0" y="0"/>
            <a:chExt cx="11796681" cy="11807568"/>
          </a:xfrm>
        </p:grpSpPr>
        <p:grpSp>
          <p:nvGrpSpPr>
            <p:cNvPr name="Group 34" id="34"/>
            <p:cNvGrpSpPr/>
            <p:nvPr/>
          </p:nvGrpSpPr>
          <p:grpSpPr>
            <a:xfrm rot="2700000">
              <a:off x="1676828" y="2799524"/>
              <a:ext cx="9887197" cy="4753460"/>
              <a:chOff x="0" y="0"/>
              <a:chExt cx="660400" cy="3175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660400" cy="317500"/>
              </a:xfrm>
              <a:custGeom>
                <a:avLst/>
                <a:gdLst/>
                <a:ahLst/>
                <a:cxnLst/>
                <a:rect r="r" b="b" t="t" l="l"/>
                <a:pathLst>
                  <a:path h="3175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17500"/>
                    </a:cubicBezTo>
                    <a:lnTo>
                      <a:pt x="660400" y="317500"/>
                    </a:lnTo>
                    <a:lnTo>
                      <a:pt x="0" y="317500"/>
                    </a:lnTo>
                    <a:lnTo>
                      <a:pt x="0" y="317500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8CA9AD"/>
                </a:solidFill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146050"/>
                <a:ext cx="660400" cy="171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53"/>
                  </a:lnSpc>
                </a:pPr>
              </a:p>
            </p:txBody>
          </p:sp>
        </p:grpSp>
        <p:sp>
          <p:nvSpPr>
            <p:cNvPr name="AutoShape 37" id="37"/>
            <p:cNvSpPr/>
            <p:nvPr/>
          </p:nvSpPr>
          <p:spPr>
            <a:xfrm>
              <a:off x="1060010" y="3892256"/>
              <a:ext cx="6913622" cy="6843603"/>
            </a:xfrm>
            <a:prstGeom prst="line">
              <a:avLst/>
            </a:prstGeom>
            <a:ln cap="flat" w="38100">
              <a:solidFill>
                <a:srgbClr val="8CA9A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8" id="38"/>
            <p:cNvSpPr/>
            <p:nvPr/>
          </p:nvSpPr>
          <p:spPr>
            <a:xfrm>
              <a:off x="774748" y="4309159"/>
              <a:ext cx="6718471" cy="6718471"/>
            </a:xfrm>
            <a:prstGeom prst="line">
              <a:avLst/>
            </a:prstGeom>
            <a:ln cap="flat" w="38100">
              <a:solidFill>
                <a:srgbClr val="8CA9A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9" id="39"/>
            <p:cNvSpPr/>
            <p:nvPr/>
          </p:nvSpPr>
          <p:spPr>
            <a:xfrm>
              <a:off x="535279" y="4787119"/>
              <a:ext cx="6489522" cy="6489522"/>
            </a:xfrm>
            <a:prstGeom prst="line">
              <a:avLst/>
            </a:prstGeom>
            <a:ln cap="flat" w="38100">
              <a:solidFill>
                <a:srgbClr val="8CA9A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0" id="40"/>
            <p:cNvSpPr/>
            <p:nvPr/>
          </p:nvSpPr>
          <p:spPr>
            <a:xfrm>
              <a:off x="366406" y="5302142"/>
              <a:ext cx="6254021" cy="6254021"/>
            </a:xfrm>
            <a:prstGeom prst="line">
              <a:avLst/>
            </a:prstGeom>
            <a:ln cap="flat" w="38100">
              <a:solidFill>
                <a:srgbClr val="8CA9A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1" id="41"/>
            <p:cNvSpPr/>
            <p:nvPr/>
          </p:nvSpPr>
          <p:spPr>
            <a:xfrm>
              <a:off x="174601" y="5888378"/>
              <a:ext cx="5796899" cy="5796899"/>
            </a:xfrm>
            <a:prstGeom prst="line">
              <a:avLst/>
            </a:prstGeom>
            <a:ln cap="flat" w="38100">
              <a:solidFill>
                <a:srgbClr val="8CA9A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2" id="42"/>
            <p:cNvSpPr/>
            <p:nvPr/>
          </p:nvSpPr>
          <p:spPr>
            <a:xfrm>
              <a:off x="13508" y="6480010"/>
              <a:ext cx="5284799" cy="5314125"/>
            </a:xfrm>
            <a:prstGeom prst="line">
              <a:avLst/>
            </a:prstGeom>
            <a:ln cap="flat" w="38100">
              <a:solidFill>
                <a:srgbClr val="8CA9A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3" id="43"/>
            <p:cNvSpPr/>
            <p:nvPr/>
          </p:nvSpPr>
          <p:spPr>
            <a:xfrm>
              <a:off x="47865" y="7228854"/>
              <a:ext cx="4503313" cy="4480077"/>
            </a:xfrm>
            <a:prstGeom prst="line">
              <a:avLst/>
            </a:prstGeom>
            <a:ln cap="flat" w="38100">
              <a:solidFill>
                <a:srgbClr val="8CA9A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4" id="44"/>
            <p:cNvSpPr/>
            <p:nvPr/>
          </p:nvSpPr>
          <p:spPr>
            <a:xfrm>
              <a:off x="165620" y="8131631"/>
              <a:ext cx="3504797" cy="3562626"/>
            </a:xfrm>
            <a:prstGeom prst="line">
              <a:avLst/>
            </a:prstGeom>
            <a:ln cap="flat" w="38100">
              <a:solidFill>
                <a:srgbClr val="8CA9AD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5" id="45"/>
            <p:cNvSpPr/>
            <p:nvPr/>
          </p:nvSpPr>
          <p:spPr>
            <a:xfrm>
              <a:off x="676661" y="9346264"/>
              <a:ext cx="1790115" cy="1790115"/>
            </a:xfrm>
            <a:prstGeom prst="line">
              <a:avLst/>
            </a:prstGeom>
            <a:ln cap="flat" w="38100">
              <a:solidFill>
                <a:srgbClr val="8CA9AD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46" id="46"/>
          <p:cNvSpPr txBox="true"/>
          <p:nvPr/>
        </p:nvSpPr>
        <p:spPr>
          <a:xfrm rot="0">
            <a:off x="5759886" y="4915593"/>
            <a:ext cx="6768228" cy="726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4"/>
              </a:lnSpc>
            </a:pPr>
            <a:r>
              <a:rPr lang="en-US" b="true" sz="5394">
                <a:solidFill>
                  <a:srgbClr val="FE6D73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”STOP DREAMING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759886" y="5630704"/>
            <a:ext cx="6768228" cy="726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4"/>
              </a:lnSpc>
            </a:pPr>
            <a:r>
              <a:rPr lang="en-US" b="true" sz="5394">
                <a:solidFill>
                  <a:srgbClr val="227C9D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AND START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759886" y="6345816"/>
            <a:ext cx="6768228" cy="726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4"/>
              </a:lnSpc>
            </a:pPr>
            <a:r>
              <a:rPr lang="en-US" b="true" sz="5394">
                <a:solidFill>
                  <a:srgbClr val="48CFAE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DOING”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DAGOgDHK7iE</dc:identifier>
  <dcterms:modified xsi:type="dcterms:W3CDTF">2011-08-01T06:04:30Z</dcterms:modified>
  <cp:revision>1</cp:revision>
  <dc:title>Stock Price Prediction Presentation slides</dc:title>
</cp:coreProperties>
</file>